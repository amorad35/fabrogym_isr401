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380" y="3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V-FOT-ENT-02_vista_general_area_entrenami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909422"/>
            <a:ext cx="4050791" cy="30391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138160" y="0"/>
            <a:ext cx="4050791" cy="6858000"/>
          </a:xfrm>
          <a:prstGeom prst="rect">
            <a:avLst/>
          </a:prstGeom>
          <a:solidFill>
            <a:srgbClr val="031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2C8FF"/>
                </a:solidFill>
                <a:latin typeface="Aptos"/>
              </a:rPr>
              <a:t>DEFENSA FINAL PFC 2B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6949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FabroGym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6492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B4C4D0"/>
                </a:solidFill>
                <a:latin typeface="Aptos"/>
              </a:rPr>
              <a:t>Sistema de </a:t>
            </a:r>
            <a:r>
              <a:rPr sz="1500" b="0" dirty="0" err="1">
                <a:solidFill>
                  <a:srgbClr val="B4C4D0"/>
                </a:solidFill>
                <a:latin typeface="Aptos"/>
              </a:rPr>
              <a:t>gestión</a:t>
            </a:r>
            <a:r>
              <a:rPr sz="1500" b="0" dirty="0">
                <a:solidFill>
                  <a:srgbClr val="B4C4D0"/>
                </a:solidFill>
                <a:latin typeface="Aptos"/>
              </a:rPr>
              <a:t> </a:t>
            </a:r>
            <a:r>
              <a:rPr sz="1500" b="0" dirty="0" err="1">
                <a:solidFill>
                  <a:srgbClr val="B4C4D0"/>
                </a:solidFill>
                <a:latin typeface="Aptos"/>
              </a:rPr>
              <a:t>administrativa</a:t>
            </a:r>
            <a:r>
              <a:rPr sz="1500" b="0" dirty="0">
                <a:solidFill>
                  <a:srgbClr val="B4C4D0"/>
                </a:solidFill>
                <a:latin typeface="Aptos"/>
              </a:rPr>
              <a:t> y </a:t>
            </a:r>
            <a:r>
              <a:rPr sz="1500" b="0" dirty="0" err="1">
                <a:solidFill>
                  <a:srgbClr val="B4C4D0"/>
                </a:solidFill>
                <a:latin typeface="Aptos"/>
              </a:rPr>
              <a:t>operativa</a:t>
            </a:r>
            <a:r>
              <a:rPr sz="1500" b="0" dirty="0">
                <a:solidFill>
                  <a:srgbClr val="B4C4D0"/>
                </a:solidFill>
                <a:latin typeface="Aptos"/>
              </a:rPr>
              <a:t> para </a:t>
            </a:r>
            <a:r>
              <a:rPr sz="1500" b="0" dirty="0" err="1">
                <a:solidFill>
                  <a:srgbClr val="B4C4D0"/>
                </a:solidFill>
                <a:latin typeface="Aptos"/>
              </a:rPr>
              <a:t>gimnasios</a:t>
            </a:r>
            <a:endParaRPr sz="1500" b="0" dirty="0">
              <a:solidFill>
                <a:srgbClr val="B4C4D0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2240280"/>
            <a:ext cx="6035040" cy="867358"/>
          </a:xfrm>
          <a:prstGeom prst="roundRect">
            <a:avLst>
              <a:gd name="adj" fmla="val 11786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54864" cy="867358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" y="2313432"/>
            <a:ext cx="587044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Enfoque 3: explicabilidad como requisito no funcional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El proyecto incorpora el componente propuesto de recomendación de rutinas para especificar requisitos de explicabilidad sin declarar una IA productiva.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46119"/>
            <a:ext cx="3840480" cy="1798927"/>
          </a:xfrm>
          <a:prstGeom prst="roundRect">
            <a:avLst>
              <a:gd name="adj" fmla="val 3959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3246119"/>
            <a:ext cx="54864" cy="1754325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3319272"/>
            <a:ext cx="367588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Aptos"/>
              </a:rPr>
              <a:t>Equipo</a:t>
            </a:r>
          </a:p>
          <a:p>
            <a:pPr>
              <a:spcBef>
                <a:spcPts val="600"/>
              </a:spcBef>
            </a:pPr>
            <a:r>
              <a:rPr lang="es-EC" sz="1400" dirty="0">
                <a:solidFill>
                  <a:schemeClr val="bg1"/>
                </a:solidFill>
              </a:rPr>
              <a:t>ALVIA VILLEGAS ERICK ADALBERTO</a:t>
            </a:r>
          </a:p>
          <a:p>
            <a:pPr>
              <a:spcBef>
                <a:spcPts val="600"/>
              </a:spcBef>
            </a:pPr>
            <a:r>
              <a:rPr lang="es-EC" sz="1400" dirty="0">
                <a:solidFill>
                  <a:schemeClr val="bg1"/>
                </a:solidFill>
              </a:rPr>
              <a:t>MERA ARIAS ERICK JHAIR</a:t>
            </a:r>
          </a:p>
          <a:p>
            <a:pPr>
              <a:spcBef>
                <a:spcPts val="600"/>
              </a:spcBef>
            </a:pPr>
            <a:r>
              <a:rPr lang="es-EC" sz="1400" dirty="0">
                <a:solidFill>
                  <a:schemeClr val="bg1"/>
                </a:solidFill>
              </a:rPr>
              <a:t>MORA DUARTE ALEX JOSE</a:t>
            </a:r>
          </a:p>
          <a:p>
            <a:pPr>
              <a:spcBef>
                <a:spcPts val="600"/>
              </a:spcBef>
            </a:pPr>
            <a:r>
              <a:rPr lang="es-EC" sz="1400" dirty="0">
                <a:solidFill>
                  <a:schemeClr val="bg1"/>
                </a:solidFill>
              </a:rPr>
              <a:t>PONCE RIVERA MERY HELENMEY</a:t>
            </a:r>
            <a:br>
              <a:rPr lang="es-EC" sz="900" dirty="0">
                <a:solidFill>
                  <a:schemeClr val="bg1"/>
                </a:solidFill>
              </a:rPr>
            </a:br>
            <a:r>
              <a:rPr lang="es-EC" sz="1400" dirty="0">
                <a:solidFill>
                  <a:schemeClr val="bg1"/>
                </a:solidFill>
              </a:rPr>
              <a:t>VACA ROMERO DAVID OCTAVIO</a:t>
            </a:r>
            <a:endParaRPr sz="900" dirty="0">
              <a:solidFill>
                <a:schemeClr val="bg1"/>
              </a:solidFill>
              <a:latin typeface="Aptos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77767CBC-8472-6238-40CD-BB9279209D0A}"/>
              </a:ext>
            </a:extLst>
          </p:cNvPr>
          <p:cNvGrpSpPr/>
          <p:nvPr/>
        </p:nvGrpSpPr>
        <p:grpSpPr>
          <a:xfrm>
            <a:off x="490220" y="5285232"/>
            <a:ext cx="5943600" cy="1005840"/>
            <a:chOff x="502920" y="5088975"/>
            <a:chExt cx="5943600" cy="1005840"/>
          </a:xfrm>
        </p:grpSpPr>
        <p:sp>
          <p:nvSpPr>
            <p:cNvPr id="16" name="Rounded Rectangle 15"/>
            <p:cNvSpPr/>
            <p:nvPr/>
          </p:nvSpPr>
          <p:spPr>
            <a:xfrm>
              <a:off x="502920" y="5088975"/>
              <a:ext cx="5943600" cy="1005840"/>
            </a:xfrm>
            <a:prstGeom prst="roundRect">
              <a:avLst>
                <a:gd name="adj" fmla="val 7408"/>
              </a:avLst>
            </a:prstGeom>
            <a:solidFill>
              <a:srgbClr val="092D4A"/>
            </a:solidFill>
            <a:ln w="10160">
              <a:solidFill>
                <a:srgbClr val="2C5F8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02920" y="5088975"/>
              <a:ext cx="45720" cy="1005840"/>
            </a:xfrm>
            <a:prstGeom prst="rect">
              <a:avLst/>
            </a:prstGeom>
            <a:solidFill>
              <a:srgbClr val="1272B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12648" y="5162127"/>
              <a:ext cx="5779008" cy="8156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b="1" dirty="0" err="1">
                  <a:solidFill>
                    <a:srgbClr val="FFFFFF"/>
                  </a:solidFill>
                  <a:latin typeface="Aptos"/>
                </a:rPr>
                <a:t>Contenido</a:t>
              </a:r>
              <a:r>
                <a:rPr b="1" dirty="0">
                  <a:solidFill>
                    <a:srgbClr val="FFFFFF"/>
                  </a:solidFill>
                  <a:latin typeface="Aptos"/>
                </a:rPr>
                <a:t> de la defensa</a:t>
              </a:r>
            </a:p>
            <a:p>
              <a:pPr>
                <a:spcBef>
                  <a:spcPts val="600"/>
                </a:spcBef>
              </a:pPr>
              <a:r>
                <a:rPr sz="1200" dirty="0" err="1">
                  <a:solidFill>
                    <a:srgbClr val="E1EBF2"/>
                  </a:solidFill>
                  <a:latin typeface="Aptos"/>
                </a:rPr>
                <a:t>Problema</a:t>
              </a:r>
              <a:r>
                <a:rPr sz="1200" dirty="0">
                  <a:solidFill>
                    <a:srgbClr val="E1EBF2"/>
                  </a:solidFill>
                  <a:latin typeface="Aptos"/>
                </a:rPr>
                <a:t> real · </a:t>
              </a:r>
              <a:r>
                <a:rPr sz="1200" dirty="0" err="1">
                  <a:solidFill>
                    <a:srgbClr val="E1EBF2"/>
                  </a:solidFill>
                  <a:latin typeface="Aptos"/>
                </a:rPr>
                <a:t>evidencia</a:t>
              </a:r>
              <a:r>
                <a:rPr sz="1200" dirty="0">
                  <a:solidFill>
                    <a:srgbClr val="E1EBF2"/>
                  </a:solidFill>
                  <a:latin typeface="Aptos"/>
                </a:rPr>
                <a:t> · ERS/SRS · </a:t>
              </a:r>
              <a:r>
                <a:rPr sz="1200" dirty="0" err="1">
                  <a:solidFill>
                    <a:srgbClr val="E1EBF2"/>
                  </a:solidFill>
                  <a:latin typeface="Aptos"/>
                </a:rPr>
                <a:t>priorización</a:t>
              </a:r>
              <a:r>
                <a:rPr sz="12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200" dirty="0" err="1">
                  <a:solidFill>
                    <a:srgbClr val="E1EBF2"/>
                  </a:solidFill>
                  <a:latin typeface="Aptos"/>
                </a:rPr>
                <a:t>MoSCoW</a:t>
              </a:r>
              <a:r>
                <a:rPr sz="1200" dirty="0">
                  <a:solidFill>
                    <a:srgbClr val="E1EBF2"/>
                  </a:solidFill>
                  <a:latin typeface="Aptos"/>
                </a:rPr>
                <a:t> · </a:t>
              </a:r>
              <a:r>
                <a:rPr sz="1200" dirty="0" err="1">
                  <a:solidFill>
                    <a:srgbClr val="E1EBF2"/>
                  </a:solidFill>
                  <a:latin typeface="Aptos"/>
                </a:rPr>
                <a:t>trazabilidad</a:t>
              </a:r>
              <a:r>
                <a:rPr sz="1200" dirty="0">
                  <a:solidFill>
                    <a:srgbClr val="E1EBF2"/>
                  </a:solidFill>
                  <a:latin typeface="Aptos"/>
                </a:rPr>
                <a:t> · UML · MVP · </a:t>
              </a:r>
              <a:r>
                <a:rPr sz="1200" dirty="0" err="1">
                  <a:solidFill>
                    <a:srgbClr val="E1EBF2"/>
                  </a:solidFill>
                  <a:latin typeface="Aptos"/>
                </a:rPr>
                <a:t>validación</a:t>
              </a:r>
              <a:r>
                <a:rPr sz="1200" dirty="0">
                  <a:solidFill>
                    <a:srgbClr val="E1EBF2"/>
                  </a:solidFill>
                  <a:latin typeface="Aptos"/>
                </a:rPr>
                <a:t> · </a:t>
              </a:r>
              <a:r>
                <a:rPr sz="1200" dirty="0" err="1">
                  <a:solidFill>
                    <a:srgbClr val="E1EBF2"/>
                  </a:solidFill>
                  <a:latin typeface="Aptos"/>
                </a:rPr>
                <a:t>repositorio</a:t>
              </a:r>
              <a:r>
                <a:rPr sz="1200" dirty="0">
                  <a:solidFill>
                    <a:srgbClr val="E1EBF2"/>
                  </a:solidFill>
                  <a:latin typeface="Aptos"/>
                </a:rPr>
                <a:t> · </a:t>
              </a:r>
              <a:r>
                <a:rPr sz="1200" dirty="0" err="1">
                  <a:solidFill>
                    <a:srgbClr val="E1EBF2"/>
                  </a:solidFill>
                  <a:latin typeface="Aptos"/>
                </a:rPr>
                <a:t>conclusiones</a:t>
              </a:r>
              <a:endParaRPr sz="1200" dirty="0">
                <a:solidFill>
                  <a:srgbClr val="E1EBF2"/>
                </a:solidFill>
                <a:latin typeface="Aptos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411480" y="6365783"/>
            <a:ext cx="388324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1</a:t>
            </a:r>
          </a:p>
        </p:txBody>
      </p:sp>
      <p:pic>
        <p:nvPicPr>
          <p:cNvPr id="22" name="Image 0" descr="/mnt/data/9d23801b-9fdd-483e-89d8-83b644e7ff38.png">
            <a:extLst>
              <a:ext uri="{FF2B5EF4-FFF2-40B4-BE49-F238E27FC236}">
                <a16:creationId xmlns:a16="http://schemas.microsoft.com/office/drawing/2014/main" id="{A47BF0DA-9759-010D-3211-4B95B8557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078" r="11078"/>
          <a:stretch/>
        </p:blipFill>
        <p:spPr>
          <a:xfrm>
            <a:off x="8165592" y="0"/>
            <a:ext cx="400507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01 · PROBLEMA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Un gimnasio con procesos dispersos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4C4D0"/>
                </a:solidFill>
                <a:latin typeface="Aptos"/>
              </a:rPr>
              <a:t>El punto de partida fue una operación manual con registros separados y baja visibilidad para decidir.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1417320" cy="448310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2039112"/>
            <a:ext cx="11688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Clientes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1965960"/>
            <a:ext cx="1417320" cy="448310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41448" y="2039112"/>
            <a:ext cx="16004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Membresías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1965960"/>
            <a:ext cx="1417320" cy="448310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78807" y="2039112"/>
            <a:ext cx="901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Pagos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6040"/>
            <a:ext cx="1417320" cy="448310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" y="2679192"/>
            <a:ext cx="13974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Asistencia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31720" y="2606040"/>
            <a:ext cx="1417320" cy="448310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41448" y="2679192"/>
            <a:ext cx="10014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Ventas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2606040"/>
            <a:ext cx="1417320" cy="438658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78808" y="2679192"/>
            <a:ext cx="13553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Inventario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246120"/>
            <a:ext cx="1417320" cy="384048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3319272"/>
            <a:ext cx="10891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Rutinas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3246120"/>
            <a:ext cx="1417320" cy="448310"/>
          </a:xfrm>
          <a:prstGeom prst="roundRect">
            <a:avLst/>
          </a:prstGeom>
          <a:solidFill>
            <a:srgbClr val="F4F8FB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41447" y="3319272"/>
            <a:ext cx="12440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Reportes</a:t>
            </a:r>
          </a:p>
        </p:txBody>
      </p:sp>
      <p:sp>
        <p:nvSpPr>
          <p:cNvPr id="22" name="Chevron 21"/>
          <p:cNvSpPr/>
          <p:nvPr/>
        </p:nvSpPr>
        <p:spPr>
          <a:xfrm>
            <a:off x="3520440" y="4539488"/>
            <a:ext cx="1965960" cy="320040"/>
          </a:xfrm>
          <a:prstGeom prst="chevron">
            <a:avLst/>
          </a:prstGeom>
          <a:solidFill>
            <a:srgbClr val="1272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534164" y="4358315"/>
            <a:ext cx="1508760" cy="566928"/>
          </a:xfrm>
          <a:prstGeom prst="roundRect">
            <a:avLst/>
          </a:prstGeom>
          <a:solidFill>
            <a:srgbClr val="1272B1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43892" y="4431467"/>
            <a:ext cx="138768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 err="1">
                <a:solidFill>
                  <a:srgbClr val="FFFFFF"/>
                </a:solidFill>
                <a:latin typeface="Aptos"/>
              </a:rPr>
              <a:t>FabroGym</a:t>
            </a:r>
            <a:endParaRPr sz="20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94360" y="5349240"/>
            <a:ext cx="7500486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dirty="0" err="1">
                <a:solidFill>
                  <a:srgbClr val="FFFFFF"/>
                </a:solidFill>
                <a:latin typeface="Aptos"/>
              </a:rPr>
              <a:t>Propósito</a:t>
            </a:r>
            <a:r>
              <a:rPr b="1" dirty="0">
                <a:solidFill>
                  <a:srgbClr val="FFFFFF"/>
                </a:solidFill>
                <a:latin typeface="Aptos"/>
              </a:rPr>
              <a:t>: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centralizar</a:t>
            </a:r>
            <a:r>
              <a:rPr b="1" dirty="0">
                <a:solidFill>
                  <a:srgbClr val="FFFFFF"/>
                </a:solidFill>
                <a:latin typeface="Aptos"/>
              </a:rPr>
              <a:t>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información</a:t>
            </a:r>
            <a:r>
              <a:rPr b="1" dirty="0">
                <a:solidFill>
                  <a:srgbClr val="FFFFFF"/>
                </a:solidFill>
                <a:latin typeface="Aptos"/>
              </a:rPr>
              <a:t>,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reducir</a:t>
            </a:r>
            <a:r>
              <a:rPr b="1" dirty="0">
                <a:solidFill>
                  <a:srgbClr val="FFFFFF"/>
                </a:solidFill>
                <a:latin typeface="Aptos"/>
              </a:rPr>
              <a:t>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duplicidad</a:t>
            </a:r>
            <a:r>
              <a:rPr b="1" dirty="0">
                <a:solidFill>
                  <a:srgbClr val="FFFFFF"/>
                </a:solidFill>
                <a:latin typeface="Aptos"/>
              </a:rPr>
              <a:t> y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convertir</a:t>
            </a:r>
            <a:r>
              <a:rPr b="1" dirty="0">
                <a:solidFill>
                  <a:srgbClr val="FFFFFF"/>
                </a:solidFill>
                <a:latin typeface="Aptos"/>
              </a:rPr>
              <a:t>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hallazgos</a:t>
            </a:r>
            <a:r>
              <a:rPr b="1" dirty="0">
                <a:solidFill>
                  <a:srgbClr val="FFFFFF"/>
                </a:solidFill>
                <a:latin typeface="Aptos"/>
              </a:rPr>
              <a:t> de campo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en</a:t>
            </a:r>
            <a:r>
              <a:rPr b="1" dirty="0">
                <a:solidFill>
                  <a:srgbClr val="FFFFFF"/>
                </a:solidFill>
                <a:latin typeface="Aptos"/>
              </a:rPr>
              <a:t>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requisitos</a:t>
            </a:r>
            <a:r>
              <a:rPr b="1" dirty="0">
                <a:solidFill>
                  <a:srgbClr val="FFFFFF"/>
                </a:solidFill>
                <a:latin typeface="Aptos"/>
              </a:rPr>
              <a:t>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verificables</a:t>
            </a:r>
            <a:r>
              <a:rPr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2</a:t>
            </a:r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A0775EEF-7E76-4A84-22CB-E9E8C2398AB3}"/>
              </a:ext>
            </a:extLst>
          </p:cNvPr>
          <p:cNvSpPr/>
          <p:nvPr/>
        </p:nvSpPr>
        <p:spPr>
          <a:xfrm>
            <a:off x="8351520" y="1344168"/>
            <a:ext cx="3291840" cy="4233672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0160">
            <a:solidFill>
              <a:srgbClr val="C9D7E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pic>
        <p:nvPicPr>
          <p:cNvPr id="33" name="Image 0" descr="/mnt/data/629ee768-3af3-4976-81f0-9d0e2407ac70.png">
            <a:extLst>
              <a:ext uri="{FF2B5EF4-FFF2-40B4-BE49-F238E27FC236}">
                <a16:creationId xmlns:a16="http://schemas.microsoft.com/office/drawing/2014/main" id="{088DD2F2-093E-F9D7-8832-741381A0BD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60" b="1160"/>
          <a:stretch/>
        </p:blipFill>
        <p:spPr>
          <a:xfrm>
            <a:off x="8397240" y="1389888"/>
            <a:ext cx="3200400" cy="3922776"/>
          </a:xfrm>
          <a:prstGeom prst="rect">
            <a:avLst/>
          </a:prstGeom>
        </p:spPr>
      </p:pic>
      <p:sp>
        <p:nvSpPr>
          <p:cNvPr id="35" name="Text 27">
            <a:extLst>
              <a:ext uri="{FF2B5EF4-FFF2-40B4-BE49-F238E27FC236}">
                <a16:creationId xmlns:a16="http://schemas.microsoft.com/office/drawing/2014/main" id="{51960502-6522-B280-A564-49AF75B41FF1}"/>
              </a:ext>
            </a:extLst>
          </p:cNvPr>
          <p:cNvSpPr/>
          <p:nvPr/>
        </p:nvSpPr>
        <p:spPr>
          <a:xfrm>
            <a:off x="8461248" y="5349240"/>
            <a:ext cx="30723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617586"/>
                </a:solidFill>
              </a:rPr>
              <a:t>Evidencia de entorno: inventario y ventas del gimnasio</a:t>
            </a:r>
            <a:endParaRPr lang="en-US" sz="5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02 · ALCANCE Y STAKEHOLDERS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7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 err="1">
                <a:solidFill>
                  <a:srgbClr val="FFFFFF"/>
                </a:solidFill>
                <a:latin typeface="Aptos"/>
              </a:rPr>
              <a:t>Actores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,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alcance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y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límite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del MVP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La defensa distingue 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sistema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administrativo</a:t>
            </a:r>
            <a:r>
              <a:rPr sz="1400" dirty="0">
                <a:solidFill>
                  <a:srgbClr val="B4C4D0"/>
                </a:solidFill>
                <a:latin typeface="Aptos"/>
              </a:rPr>
              <a:t>, 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prototipo</a:t>
            </a:r>
            <a:r>
              <a:rPr sz="1400" dirty="0">
                <a:solidFill>
                  <a:srgbClr val="B4C4D0"/>
                </a:solidFill>
                <a:latin typeface="Aptos"/>
              </a:rPr>
              <a:t> base y 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componente</a:t>
            </a:r>
            <a:r>
              <a:rPr sz="1400" dirty="0">
                <a:solidFill>
                  <a:srgbClr val="B4C4D0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explicabilidad</a:t>
            </a:r>
            <a:r>
              <a:rPr sz="14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691640" cy="82296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938528"/>
            <a:ext cx="121411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32C8FF"/>
                </a:solidFill>
              </a:rPr>
              <a:t>1</a:t>
            </a:r>
          </a:p>
          <a:p>
            <a:r>
              <a:rPr sz="1600" b="1" dirty="0" err="1">
                <a:solidFill>
                  <a:srgbClr val="FFFFFF"/>
                </a:solidFill>
              </a:rPr>
              <a:t>Superadmin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743200" y="1828800"/>
            <a:ext cx="1691640" cy="82296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52928" y="1938528"/>
            <a:ext cx="74892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0B981"/>
                </a:solidFill>
              </a:rPr>
              <a:t>2</a:t>
            </a:r>
          </a:p>
          <a:p>
            <a:r>
              <a:rPr sz="1600" b="1" dirty="0">
                <a:solidFill>
                  <a:srgbClr val="FFFFFF"/>
                </a:solidFill>
              </a:rPr>
              <a:t>Dueño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828800"/>
            <a:ext cx="1691640" cy="82296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0328" y="1938528"/>
            <a:ext cx="105689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32C8FF"/>
                </a:solidFill>
              </a:rPr>
              <a:t>3</a:t>
            </a:r>
          </a:p>
          <a:p>
            <a:r>
              <a:rPr sz="1600" b="1" dirty="0" err="1">
                <a:solidFill>
                  <a:srgbClr val="FFFFFF"/>
                </a:solidFill>
              </a:rPr>
              <a:t>Recepción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858000" y="1828800"/>
            <a:ext cx="1691640" cy="82296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67728" y="1938528"/>
            <a:ext cx="102355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5BF42"/>
                </a:solidFill>
              </a:rPr>
              <a:t>4</a:t>
            </a:r>
          </a:p>
          <a:p>
            <a:r>
              <a:rPr sz="1600" b="1">
                <a:solidFill>
                  <a:srgbClr val="FFFFFF"/>
                </a:solidFill>
              </a:rPr>
              <a:t>Instructor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828800"/>
            <a:ext cx="1691640" cy="82296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25128" y="1938528"/>
            <a:ext cx="77495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5</a:t>
            </a:r>
          </a:p>
          <a:p>
            <a:r>
              <a:rPr sz="1600" b="1">
                <a:solidFill>
                  <a:srgbClr val="FFFFFF"/>
                </a:solidFill>
              </a:rPr>
              <a:t>Cliente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79600"/>
              </p:ext>
            </p:extLst>
          </p:nvPr>
        </p:nvGraphicFramePr>
        <p:xfrm>
          <a:off x="685800" y="2926080"/>
          <a:ext cx="5486400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Stakeholder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Interés principal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Influencia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Participación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Dueño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Control operativo y reportes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Alta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Entrevista / validación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Recepción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Clientes, pagos y membresías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Media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Observación / cuestionario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Instructor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Rutinas y seguimiento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Validación técnica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Cliente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Consulta de rutina y atención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Media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Cuestionario / walkthrough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Administrador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Roles, caja y trazas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1414"/>
                          </a:solidFill>
                        </a:rPr>
                        <a:t>Alta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 err="1">
                          <a:solidFill>
                            <a:srgbClr val="141414"/>
                          </a:solidFill>
                        </a:rPr>
                        <a:t>Revisión</a:t>
                      </a:r>
                      <a:r>
                        <a:rPr sz="1200" dirty="0">
                          <a:solidFill>
                            <a:srgbClr val="141414"/>
                          </a:solidFill>
                        </a:rPr>
                        <a:t> de 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46520" y="2926080"/>
            <a:ext cx="5029200" cy="914400"/>
          </a:xfrm>
          <a:prstGeom prst="roundRect">
            <a:avLst>
              <a:gd name="adj" fmla="val 8270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46520" y="2926080"/>
            <a:ext cx="4572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56248" y="2999232"/>
            <a:ext cx="486460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FFFFFF"/>
                </a:solidFill>
                <a:latin typeface="Aptos"/>
              </a:rPr>
              <a:t>Alcance</a:t>
            </a:r>
            <a:r>
              <a:rPr b="1" dirty="0">
                <a:solidFill>
                  <a:srgbClr val="FFFFFF"/>
                </a:solidFill>
                <a:latin typeface="Aptos"/>
              </a:rPr>
              <a:t>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defendido</a:t>
            </a:r>
            <a:endParaRPr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200" dirty="0" err="1">
                <a:solidFill>
                  <a:srgbClr val="E1EBF2"/>
                </a:solidFill>
                <a:latin typeface="Aptos"/>
              </a:rPr>
              <a:t>Clientes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membresías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pagos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asistencia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inventario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ventas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rutinas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reportes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roles y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evidencia</a:t>
            </a:r>
            <a:r>
              <a:rPr sz="1200" dirty="0">
                <a:solidFill>
                  <a:srgbClr val="E1EBF2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trazable</a:t>
            </a:r>
            <a:r>
              <a:rPr sz="1200" dirty="0">
                <a:solidFill>
                  <a:srgbClr val="E1EBF2"/>
                </a:solidFill>
                <a:latin typeface="Aptos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977639"/>
            <a:ext cx="5029200" cy="914400"/>
          </a:xfrm>
          <a:prstGeom prst="roundRect">
            <a:avLst>
              <a:gd name="adj" fmla="val 7507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46520" y="3977639"/>
            <a:ext cx="45720" cy="91440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6248" y="4050791"/>
            <a:ext cx="486460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Componente de explicabilidad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No se declara una IA productiva. Se especifican RNF de explicabilidad para el componente propuesto de recomendación de rutinas.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3608" y="5858256"/>
            <a:ext cx="10789920" cy="54864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70537" y="5856534"/>
            <a:ext cx="45720" cy="54864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3336" y="5931408"/>
            <a:ext cx="1062532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ptos"/>
              </a:rPr>
              <a:t>Límite técnico del MVP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E1EBF2"/>
                </a:solidFill>
                <a:latin typeface="Aptos"/>
              </a:rPr>
              <a:t>No forman parte del prototipo base el backend productivo, la base de datos definitiva, la pasarela de pago ni la facturación externa.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03 ·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>
                <a:solidFill>
                  <a:srgbClr val="FFFFFF"/>
                </a:solidFill>
                <a:latin typeface="Aptos"/>
              </a:rPr>
              <a:t>La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línea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base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nace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de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evidencia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verificable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La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información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proviene</a:t>
            </a:r>
            <a:r>
              <a:rPr sz="1400" dirty="0">
                <a:solidFill>
                  <a:srgbClr val="B4C4D0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entrevistas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encuestas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observación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documentos</a:t>
            </a:r>
            <a:r>
              <a:rPr sz="1400" dirty="0">
                <a:solidFill>
                  <a:srgbClr val="B4C4D0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artefactos</a:t>
            </a:r>
            <a:r>
              <a:rPr sz="1400" dirty="0">
                <a:solidFill>
                  <a:srgbClr val="B4C4D0"/>
                </a:solidFill>
                <a:latin typeface="Aptos"/>
              </a:rPr>
              <a:t> del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proyecto</a:t>
            </a:r>
            <a:r>
              <a:rPr sz="14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1554480" cy="109728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2100905"/>
            <a:ext cx="13258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10B981"/>
                </a:solidFill>
              </a:rPr>
              <a:t>10</a:t>
            </a:r>
          </a:p>
          <a:p>
            <a:r>
              <a:rPr sz="1200" b="1" dirty="0" err="1">
                <a:solidFill>
                  <a:srgbClr val="FFFFFF"/>
                </a:solidFill>
              </a:rPr>
              <a:t>transcripciones</a:t>
            </a:r>
            <a:r>
              <a:rPr sz="1200" b="1" dirty="0">
                <a:solidFill>
                  <a:srgbClr val="FFFFFF"/>
                </a:solidFill>
              </a:rPr>
              <a:t>
</a:t>
            </a:r>
            <a:r>
              <a:rPr sz="1200" b="1" dirty="0" err="1">
                <a:solidFill>
                  <a:srgbClr val="FFFFFF"/>
                </a:solidFill>
              </a:rPr>
              <a:t>anonimizadas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468880" y="2011680"/>
            <a:ext cx="1554480" cy="109728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78608" y="2100905"/>
            <a:ext cx="13258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272B1"/>
                </a:solidFill>
              </a:rPr>
              <a:t>32</a:t>
            </a:r>
          </a:p>
          <a:p>
            <a:r>
              <a:rPr sz="1200" b="1">
                <a:solidFill>
                  <a:srgbClr val="FFFFFF"/>
                </a:solidFill>
              </a:rPr>
              <a:t>respuestas de
cuestionario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011680"/>
            <a:ext cx="1554480" cy="109728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1688" y="2121408"/>
            <a:ext cx="13258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BF42"/>
                </a:solidFill>
              </a:rPr>
              <a:t>84</a:t>
            </a:r>
          </a:p>
          <a:p>
            <a:r>
              <a:rPr sz="1200" b="1">
                <a:solidFill>
                  <a:srgbClr val="FFFFFF"/>
                </a:solidFill>
              </a:rPr>
              <a:t>mockups de
interfaz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20440"/>
            <a:ext cx="1554480" cy="109728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3630168"/>
            <a:ext cx="13258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2C8FF"/>
                </a:solidFill>
              </a:rPr>
              <a:t>54</a:t>
            </a:r>
          </a:p>
          <a:p>
            <a:r>
              <a:rPr sz="1200" b="1">
                <a:solidFill>
                  <a:srgbClr val="FFFFFF"/>
                </a:solidFill>
              </a:rPr>
              <a:t>diagramas y
vistas UML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520440"/>
            <a:ext cx="1554480" cy="109728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78608" y="3630168"/>
            <a:ext cx="13258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0B981"/>
                </a:solidFill>
              </a:rPr>
              <a:t>68</a:t>
            </a:r>
          </a:p>
          <a:p>
            <a:r>
              <a:rPr sz="1200" b="1">
                <a:solidFill>
                  <a:srgbClr val="FFFFFF"/>
                </a:solidFill>
              </a:rPr>
              <a:t>filas actuales de
trazabilidad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520440"/>
            <a:ext cx="1554480" cy="109728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1688" y="3630168"/>
            <a:ext cx="13258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BF42"/>
                </a:solidFill>
              </a:rPr>
              <a:t>10</a:t>
            </a:r>
          </a:p>
          <a:p>
            <a:r>
              <a:rPr sz="1200" b="1">
                <a:solidFill>
                  <a:srgbClr val="FFFFFF"/>
                </a:solidFill>
              </a:rPr>
              <a:t>consentimientos
censurados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5326380"/>
            <a:ext cx="10744200" cy="685800"/>
          </a:xfrm>
          <a:prstGeom prst="roundRect">
            <a:avLst>
              <a:gd name="adj" fmla="val 8524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" y="5326380"/>
            <a:ext cx="4572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5339030"/>
            <a:ext cx="10579608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 err="1">
                <a:solidFill>
                  <a:srgbClr val="FFFFFF"/>
                </a:solidFill>
                <a:latin typeface="Aptos"/>
              </a:rPr>
              <a:t>Integridad</a:t>
            </a:r>
            <a:r>
              <a:rPr sz="2000" b="1" dirty="0">
                <a:solidFill>
                  <a:srgbClr val="FFFFFF"/>
                </a:solidFill>
                <a:latin typeface="Aptos"/>
              </a:rPr>
              <a:t> de la </a:t>
            </a:r>
            <a:r>
              <a:rPr sz="2000" b="1" dirty="0" err="1">
                <a:solidFill>
                  <a:srgbClr val="FFFFFF"/>
                </a:solidFill>
                <a:latin typeface="Aptos"/>
              </a:rPr>
              <a:t>evidencia</a:t>
            </a:r>
            <a:endParaRPr sz="20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E1EBF2"/>
                </a:solidFill>
                <a:latin typeface="Aptos"/>
              </a:rPr>
              <a:t>Las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evidencias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públicas</a:t>
            </a:r>
            <a:r>
              <a:rPr sz="1400" dirty="0">
                <a:solidFill>
                  <a:srgbClr val="E1EBF2"/>
                </a:solidFill>
                <a:latin typeface="Aptos"/>
              </a:rPr>
              <a:t> se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anonimizan</a:t>
            </a:r>
            <a:r>
              <a:rPr sz="1400" dirty="0">
                <a:solidFill>
                  <a:srgbClr val="E1EBF2"/>
                </a:solidFill>
                <a:latin typeface="Aptos"/>
              </a:rPr>
              <a:t> y las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sensibles</a:t>
            </a:r>
            <a:r>
              <a:rPr sz="1400" dirty="0">
                <a:solidFill>
                  <a:srgbClr val="E1EBF2"/>
                </a:solidFill>
                <a:latin typeface="Aptos"/>
              </a:rPr>
              <a:t> se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resguardan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en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una</a:t>
            </a:r>
            <a:r>
              <a:rPr sz="1400" dirty="0">
                <a:solidFill>
                  <a:srgbClr val="E1EBF2"/>
                </a:solidFill>
                <a:latin typeface="Aptos"/>
              </a:rPr>
              <a:t> zona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restringida</a:t>
            </a:r>
            <a:r>
              <a:rPr sz="1400" dirty="0">
                <a:solidFill>
                  <a:srgbClr val="E1EBF2"/>
                </a:solidFill>
                <a:latin typeface="Aptos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240" y="6465227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4</a:t>
            </a: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22638054-FCD0-7A98-D26D-B7E2CBFDB9D4}"/>
              </a:ext>
            </a:extLst>
          </p:cNvPr>
          <p:cNvSpPr/>
          <p:nvPr/>
        </p:nvSpPr>
        <p:spPr>
          <a:xfrm>
            <a:off x="8214362" y="1303020"/>
            <a:ext cx="3474720" cy="3803904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0160">
            <a:solidFill>
              <a:srgbClr val="C9D7E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pic>
        <p:nvPicPr>
          <p:cNvPr id="28" name="Image 0" descr="/mnt/data/1a008054-309f-4c88-a9ca-2cec6f9e9247.png">
            <a:extLst>
              <a:ext uri="{FF2B5EF4-FFF2-40B4-BE49-F238E27FC236}">
                <a16:creationId xmlns:a16="http://schemas.microsoft.com/office/drawing/2014/main" id="{08527FFF-842D-1260-840D-905AB05CC8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4" r="1274"/>
          <a:stretch/>
        </p:blipFill>
        <p:spPr>
          <a:xfrm>
            <a:off x="8260082" y="1348740"/>
            <a:ext cx="3383280" cy="3493008"/>
          </a:xfrm>
          <a:prstGeom prst="rect">
            <a:avLst/>
          </a:prstGeom>
        </p:spPr>
      </p:pic>
      <p:sp>
        <p:nvSpPr>
          <p:cNvPr id="30" name="Text 17">
            <a:extLst>
              <a:ext uri="{FF2B5EF4-FFF2-40B4-BE49-F238E27FC236}">
                <a16:creationId xmlns:a16="http://schemas.microsoft.com/office/drawing/2014/main" id="{80294E73-07D5-3615-A0CC-9B72A11C2561}"/>
              </a:ext>
            </a:extLst>
          </p:cNvPr>
          <p:cNvSpPr/>
          <p:nvPr/>
        </p:nvSpPr>
        <p:spPr>
          <a:xfrm>
            <a:off x="8324090" y="4878324"/>
            <a:ext cx="3255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617586"/>
                </a:solidFill>
              </a:rPr>
              <a:t>Levantamiento de información en campo</a:t>
            </a:r>
            <a:endParaRPr lang="en-US" sz="5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04 · REQUISITOS Y PRIORIZACIÓN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7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>
                <a:solidFill>
                  <a:srgbClr val="FFFFFF"/>
                </a:solidFill>
                <a:latin typeface="Aptos"/>
              </a:rPr>
              <a:t>La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línea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base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creció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y se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priorizó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con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MoSCoW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El ERS/SRS integra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necesidad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comportamiento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esperado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criterios</a:t>
            </a:r>
            <a:r>
              <a:rPr sz="1400" dirty="0">
                <a:solidFill>
                  <a:srgbClr val="B4C4D0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aceptación</a:t>
            </a:r>
            <a:r>
              <a:rPr sz="1400" dirty="0">
                <a:solidFill>
                  <a:srgbClr val="B4C4D0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prioridad</a:t>
            </a:r>
            <a:r>
              <a:rPr sz="14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4754880" cy="3566160"/>
          </a:xfrm>
          <a:prstGeom prst="roundRect">
            <a:avLst>
              <a:gd name="adj" fmla="val 2574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45720" cy="356616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901952"/>
            <a:ext cx="45902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Crecimiento de la línea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11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RF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2267712"/>
            <a:ext cx="868680" cy="20116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286000" y="2267712"/>
            <a:ext cx="521208" cy="201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94760" y="2221992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25 → 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108960"/>
            <a:ext cx="5212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RNF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7320" y="3136392"/>
            <a:ext cx="521208" cy="20116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938528" y="3136392"/>
            <a:ext cx="416966" cy="201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94760" y="3090672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15 →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77639"/>
            <a:ext cx="4572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FFFFFF"/>
                </a:solidFill>
                <a:latin typeface="Aptos"/>
              </a:rPr>
              <a:t>CU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005072"/>
            <a:ext cx="660196" cy="201168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77516" y="4005072"/>
            <a:ext cx="729691" cy="201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94760" y="3959352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19 → 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4069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B4C4D0"/>
                </a:solidFill>
                <a:latin typeface="Aptos"/>
              </a:rPr>
              <a:t>El </a:t>
            </a:r>
            <a:r>
              <a:rPr sz="1200" b="0" dirty="0" err="1">
                <a:solidFill>
                  <a:srgbClr val="B4C4D0"/>
                </a:solidFill>
                <a:latin typeface="Aptos"/>
              </a:rPr>
              <a:t>crecimiento</a:t>
            </a:r>
            <a:r>
              <a:rPr sz="1200" b="0" dirty="0">
                <a:solidFill>
                  <a:srgbClr val="B4C4D0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B4C4D0"/>
                </a:solidFill>
                <a:latin typeface="Aptos"/>
              </a:rPr>
              <a:t>proviene</a:t>
            </a:r>
            <a:r>
              <a:rPr sz="1200" b="0" dirty="0">
                <a:solidFill>
                  <a:srgbClr val="B4C4D0"/>
                </a:solidFill>
                <a:latin typeface="Aptos"/>
              </a:rPr>
              <a:t> de la </a:t>
            </a:r>
            <a:r>
              <a:rPr sz="1200" b="0" dirty="0" err="1">
                <a:solidFill>
                  <a:srgbClr val="B4C4D0"/>
                </a:solidFill>
                <a:latin typeface="Aptos"/>
              </a:rPr>
              <a:t>elicitación</a:t>
            </a:r>
            <a:r>
              <a:rPr sz="1200" b="0" dirty="0">
                <a:solidFill>
                  <a:srgbClr val="B4C4D0"/>
                </a:solidFill>
                <a:latin typeface="Aptos"/>
              </a:rPr>
              <a:t>, el </a:t>
            </a:r>
            <a:r>
              <a:rPr sz="1200" b="0" dirty="0" err="1">
                <a:solidFill>
                  <a:srgbClr val="B4C4D0"/>
                </a:solidFill>
                <a:latin typeface="Aptos"/>
              </a:rPr>
              <a:t>análisis</a:t>
            </a:r>
            <a:r>
              <a:rPr sz="1200" b="0" dirty="0">
                <a:solidFill>
                  <a:srgbClr val="B4C4D0"/>
                </a:solidFill>
                <a:latin typeface="Aptos"/>
              </a:rPr>
              <a:t> y las </a:t>
            </a:r>
            <a:r>
              <a:rPr sz="1200" b="0" dirty="0" err="1">
                <a:solidFill>
                  <a:srgbClr val="B4C4D0"/>
                </a:solidFill>
                <a:latin typeface="Aptos"/>
              </a:rPr>
              <a:t>validaciones</a:t>
            </a:r>
            <a:r>
              <a:rPr sz="1200" b="0" dirty="0">
                <a:solidFill>
                  <a:srgbClr val="B4C4D0"/>
                </a:solidFill>
                <a:latin typeface="Aptos"/>
              </a:rPr>
              <a:t> del </a:t>
            </a:r>
            <a:r>
              <a:rPr sz="1200" b="0" dirty="0" err="1">
                <a:solidFill>
                  <a:srgbClr val="B4C4D0"/>
                </a:solidFill>
                <a:latin typeface="Aptos"/>
              </a:rPr>
              <a:t>proyecto</a:t>
            </a:r>
            <a:r>
              <a:rPr sz="1200" b="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0" y="1828800"/>
            <a:ext cx="5532120" cy="3566160"/>
          </a:xfrm>
          <a:prstGeom prst="roundRect">
            <a:avLst>
              <a:gd name="adj" fmla="val 2574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15000" y="1828800"/>
            <a:ext cx="45720" cy="356616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24728" y="1901952"/>
            <a:ext cx="53675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FFFFF"/>
                </a:solidFill>
                <a:latin typeface="Aptos"/>
              </a:rPr>
              <a:t>Priorización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MoSCoW</a:t>
            </a:r>
            <a:endParaRPr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943600" y="2240280"/>
            <a:ext cx="2377440" cy="1005840"/>
          </a:xfrm>
          <a:prstGeom prst="roundRect">
            <a:avLst>
              <a:gd name="adj" fmla="val 6258"/>
            </a:avLst>
          </a:prstGeom>
          <a:solidFill>
            <a:srgbClr val="0B3B5F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943600" y="2240280"/>
            <a:ext cx="45720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53328" y="2313432"/>
            <a:ext cx="221284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Aptos"/>
              </a:rPr>
              <a:t>Must</a:t>
            </a:r>
          </a:p>
          <a:p>
            <a:pPr>
              <a:spcBef>
                <a:spcPts val="600"/>
              </a:spcBef>
            </a:pPr>
            <a:r>
              <a:rPr sz="1200" dirty="0" err="1">
                <a:solidFill>
                  <a:srgbClr val="E1EBF2"/>
                </a:solidFill>
                <a:latin typeface="Aptos"/>
              </a:rPr>
              <a:t>Autenticación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clientes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pagos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membresías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rutinas</a:t>
            </a:r>
            <a:endParaRPr sz="1200" dirty="0">
              <a:solidFill>
                <a:srgbClr val="E1EBF2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641080" y="2240280"/>
            <a:ext cx="2377440" cy="1005840"/>
          </a:xfrm>
          <a:prstGeom prst="roundRect">
            <a:avLst>
              <a:gd name="adj" fmla="val 6952"/>
            </a:avLst>
          </a:prstGeom>
          <a:solidFill>
            <a:srgbClr val="0B3B5F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41080" y="2240280"/>
            <a:ext cx="45720" cy="1005840"/>
          </a:xfrm>
          <a:prstGeom prst="rect">
            <a:avLst/>
          </a:prstGeom>
          <a:solidFill>
            <a:srgbClr val="1272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50808" y="2313432"/>
            <a:ext cx="2212848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Should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Reportes operativos, inventario, alertas y seguimiento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3657600"/>
            <a:ext cx="2377440" cy="1005840"/>
          </a:xfrm>
          <a:prstGeom prst="roundRect">
            <a:avLst>
              <a:gd name="adj" fmla="val 9727"/>
            </a:avLst>
          </a:prstGeom>
          <a:solidFill>
            <a:srgbClr val="0B3B5F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43600" y="3657600"/>
            <a:ext cx="45720" cy="100584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53328" y="3730752"/>
            <a:ext cx="221284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Could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Visualizaciones ampliadas y mensajes complementarios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41080" y="3657600"/>
            <a:ext cx="2377440" cy="1005840"/>
          </a:xfrm>
          <a:prstGeom prst="roundRect">
            <a:avLst>
              <a:gd name="adj" fmla="val 8339"/>
            </a:avLst>
          </a:prstGeom>
          <a:solidFill>
            <a:srgbClr val="0B3B5F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41080" y="3657600"/>
            <a:ext cx="45720" cy="10058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50808" y="3730752"/>
            <a:ext cx="221284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Won’t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Facturación externa y motor IA productivo en esta fase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05 ·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Cada requisito debe poder rastrearse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4C4D0"/>
                </a:solidFill>
                <a:latin typeface="Aptos"/>
              </a:rPr>
              <a:t>La defensa demuestra cadenas completas desde la fuente hasta la verificación conceptual.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13232" y="2011680"/>
            <a:ext cx="1828800" cy="59436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" y="2011680"/>
            <a:ext cx="45720" cy="59436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84832"/>
            <a:ext cx="16642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Evidencia</a:t>
            </a:r>
          </a:p>
        </p:txBody>
      </p:sp>
      <p:sp>
        <p:nvSpPr>
          <p:cNvPr id="9" name="Chevron 8"/>
          <p:cNvSpPr/>
          <p:nvPr/>
        </p:nvSpPr>
        <p:spPr>
          <a:xfrm>
            <a:off x="2569464" y="2157984"/>
            <a:ext cx="256032" cy="201168"/>
          </a:xfrm>
          <a:prstGeom prst="chevron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98064" y="2011680"/>
            <a:ext cx="1828800" cy="59436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98064" y="2011680"/>
            <a:ext cx="45720" cy="59436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07792" y="2084832"/>
            <a:ext cx="16642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RF/RNF</a:t>
            </a:r>
          </a:p>
        </p:txBody>
      </p:sp>
      <p:sp>
        <p:nvSpPr>
          <p:cNvPr id="13" name="Chevron 12"/>
          <p:cNvSpPr/>
          <p:nvPr/>
        </p:nvSpPr>
        <p:spPr>
          <a:xfrm>
            <a:off x="4654296" y="2157984"/>
            <a:ext cx="256032" cy="201168"/>
          </a:xfrm>
          <a:prstGeom prst="chevron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82896" y="2011680"/>
            <a:ext cx="1828800" cy="59436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882896" y="2011680"/>
            <a:ext cx="45720" cy="59436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92624" y="2084832"/>
            <a:ext cx="16642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Caso de uso</a:t>
            </a:r>
          </a:p>
        </p:txBody>
      </p:sp>
      <p:sp>
        <p:nvSpPr>
          <p:cNvPr id="17" name="Chevron 16"/>
          <p:cNvSpPr/>
          <p:nvPr/>
        </p:nvSpPr>
        <p:spPr>
          <a:xfrm>
            <a:off x="6739128" y="2157984"/>
            <a:ext cx="256032" cy="201168"/>
          </a:xfrm>
          <a:prstGeom prst="chevron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967728" y="2011680"/>
            <a:ext cx="1828800" cy="59436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967728" y="2011680"/>
            <a:ext cx="45720" cy="59436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95744" y="2039332"/>
            <a:ext cx="1664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Modelo / mockup</a:t>
            </a:r>
          </a:p>
        </p:txBody>
      </p:sp>
      <p:sp>
        <p:nvSpPr>
          <p:cNvPr id="21" name="Chevron 20"/>
          <p:cNvSpPr/>
          <p:nvPr/>
        </p:nvSpPr>
        <p:spPr>
          <a:xfrm>
            <a:off x="8823960" y="2157984"/>
            <a:ext cx="256032" cy="201168"/>
          </a:xfrm>
          <a:prstGeom prst="chevron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052560" y="2011680"/>
            <a:ext cx="1828800" cy="59436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52560" y="2011680"/>
            <a:ext cx="45720" cy="59436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62288" y="2084832"/>
            <a:ext cx="16642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Prueba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154680"/>
            <a:ext cx="3291840" cy="914400"/>
          </a:xfrm>
          <a:prstGeom prst="roundRect">
            <a:avLst>
              <a:gd name="adj" fmla="val 9033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" y="3154680"/>
            <a:ext cx="4572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3227832"/>
            <a:ext cx="312724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FFFFFF"/>
                </a:solidFill>
                <a:latin typeface="Aptos"/>
              </a:rPr>
              <a:t>Matriz</a:t>
            </a:r>
            <a:r>
              <a:rPr b="1" dirty="0">
                <a:solidFill>
                  <a:srgbClr val="FFFFFF"/>
                </a:solidFill>
                <a:latin typeface="Aptos"/>
              </a:rPr>
              <a:t> actual</a:t>
            </a: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E1EBF2"/>
                </a:solidFill>
                <a:latin typeface="Aptos"/>
              </a:rPr>
              <a:t>68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filas</a:t>
            </a:r>
            <a:r>
              <a:rPr sz="1200" dirty="0">
                <a:solidFill>
                  <a:srgbClr val="E1EBF2"/>
                </a:solidFill>
                <a:latin typeface="Aptos"/>
              </a:rPr>
              <a:t> de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trazabilidad</a:t>
            </a:r>
            <a:r>
              <a:rPr sz="1200" dirty="0">
                <a:solidFill>
                  <a:srgbClr val="E1EBF2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enlazan</a:t>
            </a:r>
            <a:r>
              <a:rPr sz="1200" dirty="0">
                <a:solidFill>
                  <a:srgbClr val="E1EBF2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fuente</a:t>
            </a:r>
            <a:r>
              <a:rPr sz="1200" dirty="0">
                <a:solidFill>
                  <a:srgbClr val="E1EBF2"/>
                </a:solidFill>
                <a:latin typeface="Aptos"/>
              </a:rPr>
              <a:t>,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requisito</a:t>
            </a:r>
            <a:r>
              <a:rPr sz="1200" dirty="0">
                <a:solidFill>
                  <a:srgbClr val="E1EBF2"/>
                </a:solidFill>
                <a:latin typeface="Aptos"/>
              </a:rPr>
              <a:t> y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artefacto</a:t>
            </a:r>
            <a:r>
              <a:rPr sz="1200" dirty="0">
                <a:solidFill>
                  <a:srgbClr val="E1EBF2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asociado</a:t>
            </a:r>
            <a:r>
              <a:rPr sz="1200" dirty="0">
                <a:solidFill>
                  <a:srgbClr val="E1EBF2"/>
                </a:solidFill>
                <a:latin typeface="Aptos"/>
              </a:rPr>
              <a:t>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34840" y="3154680"/>
            <a:ext cx="3291840" cy="914400"/>
          </a:xfrm>
          <a:prstGeom prst="roundRect">
            <a:avLst>
              <a:gd name="adj" fmla="val 8270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434840" y="3154680"/>
            <a:ext cx="45720" cy="91440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44568" y="3227832"/>
            <a:ext cx="312724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Criterio de calidad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La matriz no se infla por cantidad: cada fila debe sostenerse con evidencia real.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3154680"/>
            <a:ext cx="3291840" cy="914400"/>
          </a:xfrm>
          <a:prstGeom prst="roundRect">
            <a:avLst>
              <a:gd name="adj" fmla="val 9797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46720" y="3154680"/>
            <a:ext cx="45720" cy="91440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56448" y="3227832"/>
            <a:ext cx="312724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Utilidad práctica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La trazabilidad permite justificar decisiones, validar cambios y preparar la demostración.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925594"/>
              </p:ext>
            </p:extLst>
          </p:nvPr>
        </p:nvGraphicFramePr>
        <p:xfrm>
          <a:off x="914400" y="4526280"/>
          <a:ext cx="1024128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Fuente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Requisito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CU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Artefacto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Prueba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Entrevista dueño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RF-GP-03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CU-05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Mockup pagos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Escenario de caja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41414"/>
                          </a:solidFill>
                        </a:rPr>
                        <a:t>Encuesta</a:t>
                      </a:r>
                      <a:r>
                        <a:rPr sz="1400" dirty="0">
                          <a:solidFill>
                            <a:srgbClr val="141414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1414"/>
                          </a:solidFill>
                        </a:rPr>
                        <a:t>cliente</a:t>
                      </a:r>
                      <a:endParaRPr sz="1400" dirty="0">
                        <a:solidFill>
                          <a:srgbClr val="141414"/>
                        </a:solidFill>
                      </a:endParaRP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RNF-EXP-01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CU-09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1414"/>
                          </a:solidFill>
                        </a:rPr>
                        <a:t>Pantalla de rutina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41414"/>
                          </a:solidFill>
                        </a:rPr>
                        <a:t>Walkthrough </a:t>
                      </a:r>
                      <a:r>
                        <a:rPr sz="1400" dirty="0" err="1">
                          <a:solidFill>
                            <a:srgbClr val="141414"/>
                          </a:solidFill>
                        </a:rPr>
                        <a:t>explicativo</a:t>
                      </a:r>
                      <a:endParaRPr sz="1400" dirty="0">
                        <a:solidFill>
                          <a:srgbClr val="141414"/>
                        </a:solidFill>
                      </a:endParaRPr>
                    </a:p>
                  </a:txBody>
                  <a:tcPr>
                    <a:solidFill>
                      <a:srgbClr val="F6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06 · MODELO 1 · CONTEXTO DEL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7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>
                <a:solidFill>
                  <a:srgbClr val="FFFFFF"/>
                </a:solidFill>
                <a:latin typeface="Aptos"/>
              </a:rPr>
              <a:t>El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límite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del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sistema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queda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explícito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diagrama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delimita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qué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entra</a:t>
            </a:r>
            <a:r>
              <a:rPr sz="1400" dirty="0">
                <a:solidFill>
                  <a:srgbClr val="B4C4D0"/>
                </a:solidFill>
                <a:latin typeface="Aptos"/>
              </a:rPr>
              <a:t> 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FabroGym</a:t>
            </a:r>
            <a:r>
              <a:rPr sz="1400" dirty="0">
                <a:solidFill>
                  <a:srgbClr val="B4C4D0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qué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integraciones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quedan</a:t>
            </a:r>
            <a:r>
              <a:rPr sz="1400" dirty="0">
                <a:solidFill>
                  <a:srgbClr val="B4C4D0"/>
                </a:solidFill>
                <a:latin typeface="Aptos"/>
              </a:rPr>
              <a:t> fuera del MVP.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11468740" cy="4389120"/>
          </a:xfrm>
          <a:prstGeom prst="roundRect">
            <a:avLst>
              <a:gd name="adj" fmla="val 3626"/>
            </a:avLst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TX_CONTEXTO_FabroGy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0002"/>
            <a:ext cx="10698480" cy="33495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07 · MODELO 2 · 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Los casos de uso organizan las operaciones clave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4C4D0"/>
                </a:solidFill>
                <a:latin typeface="Aptos"/>
              </a:rPr>
              <a:t>La vista general relaciona actores y funcionalidades operativas del sistema.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11384280" cy="4434840"/>
          </a:xfrm>
          <a:prstGeom prst="roundRect">
            <a:avLst>
              <a:gd name="adj" fmla="val 4076"/>
            </a:avLst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U_GENERAL_FabroGy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87109"/>
            <a:ext cx="10835640" cy="1426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08 · MODELO 3 · CLASES CONCEPTUALES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 dirty="0">
                <a:solidFill>
                  <a:srgbClr val="FFFFFF"/>
                </a:solidFill>
                <a:latin typeface="Aptos"/>
              </a:rPr>
              <a:t>El </a:t>
            </a:r>
            <a:r>
              <a:rPr sz="2200" b="1" dirty="0" err="1">
                <a:solidFill>
                  <a:srgbClr val="FFFFFF"/>
                </a:solidFill>
                <a:latin typeface="Aptos"/>
              </a:rPr>
              <a:t>modelo</a:t>
            </a:r>
            <a:r>
              <a:rPr sz="2200" b="1" dirty="0">
                <a:solidFill>
                  <a:srgbClr val="FFFFFF"/>
                </a:solidFill>
                <a:latin typeface="Aptos"/>
              </a:rPr>
              <a:t> de </a:t>
            </a:r>
            <a:r>
              <a:rPr sz="2200" b="1" dirty="0" err="1">
                <a:solidFill>
                  <a:srgbClr val="FFFFFF"/>
                </a:solidFill>
                <a:latin typeface="Aptos"/>
              </a:rPr>
              <a:t>clases</a:t>
            </a:r>
            <a:r>
              <a:rPr sz="22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Aptos"/>
              </a:rPr>
              <a:t>ordena</a:t>
            </a:r>
            <a:r>
              <a:rPr sz="2200" b="1" dirty="0">
                <a:solidFill>
                  <a:srgbClr val="FFFFFF"/>
                </a:solidFill>
                <a:latin typeface="Aptos"/>
              </a:rPr>
              <a:t> la </a:t>
            </a:r>
            <a:r>
              <a:rPr sz="2200" b="1" dirty="0" err="1">
                <a:solidFill>
                  <a:srgbClr val="FFFFFF"/>
                </a:solidFill>
                <a:latin typeface="Aptos"/>
              </a:rPr>
              <a:t>información</a:t>
            </a:r>
            <a:r>
              <a:rPr sz="2200" b="1" dirty="0">
                <a:solidFill>
                  <a:srgbClr val="FFFFFF"/>
                </a:solidFill>
                <a:latin typeface="Aptos"/>
              </a:rPr>
              <a:t> del </a:t>
            </a:r>
            <a:r>
              <a:rPr sz="2200" b="1" dirty="0" err="1">
                <a:solidFill>
                  <a:srgbClr val="FFFFFF"/>
                </a:solidFill>
                <a:latin typeface="Aptos"/>
              </a:rPr>
              <a:t>dominio</a:t>
            </a:r>
            <a:endParaRPr sz="22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Las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entidades</a:t>
            </a:r>
            <a:r>
              <a:rPr sz="1400" dirty="0">
                <a:solidFill>
                  <a:srgbClr val="B4C4D0"/>
                </a:solidFill>
                <a:latin typeface="Aptos"/>
              </a:rPr>
              <a:t> del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negocio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sostienen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pagos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membresías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asistencia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inventario</a:t>
            </a:r>
            <a:r>
              <a:rPr sz="1400" dirty="0">
                <a:solidFill>
                  <a:srgbClr val="B4C4D0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rutinas</a:t>
            </a:r>
            <a:r>
              <a:rPr sz="14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783080"/>
            <a:ext cx="11384280" cy="4480560"/>
          </a:xfrm>
          <a:prstGeom prst="roundRect">
            <a:avLst>
              <a:gd name="adj" fmla="val 7631"/>
            </a:avLst>
          </a:prstGeom>
          <a:solidFill>
            <a:srgbClr val="FFFFFF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C_CLASES_FabroGy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178129"/>
            <a:ext cx="11109960" cy="3653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09 · MVP Y PROTOTIPO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7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>
                <a:solidFill>
                  <a:srgbClr val="FFFFFF"/>
                </a:solidFill>
                <a:latin typeface="Aptos"/>
              </a:rPr>
              <a:t>Mockups y HTML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materializan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los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procesos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críticos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prototipo</a:t>
            </a:r>
            <a:r>
              <a:rPr sz="1400" dirty="0">
                <a:solidFill>
                  <a:srgbClr val="B4C4D0"/>
                </a:solidFill>
                <a:latin typeface="Aptos"/>
              </a:rPr>
              <a:t> actual se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usa</a:t>
            </a:r>
            <a:r>
              <a:rPr sz="1400" dirty="0">
                <a:solidFill>
                  <a:srgbClr val="B4C4D0"/>
                </a:solidFill>
                <a:latin typeface="Aptos"/>
              </a:rPr>
              <a:t> para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revisar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flujos</a:t>
            </a:r>
            <a:r>
              <a:rPr sz="1400" dirty="0">
                <a:solidFill>
                  <a:srgbClr val="B4C4D0"/>
                </a:solidFill>
                <a:latin typeface="Aptos"/>
              </a:rPr>
              <a:t>, no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como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sistema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productivo</a:t>
            </a:r>
            <a:r>
              <a:rPr sz="1400" dirty="0">
                <a:solidFill>
                  <a:srgbClr val="B4C4D0"/>
                </a:solidFill>
                <a:latin typeface="Aptos"/>
              </a:rPr>
              <a:t> final.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4932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61811" y="1774494"/>
            <a:ext cx="5394960" cy="3246120"/>
          </a:xfrm>
          <a:prstGeom prst="roundRect">
            <a:avLst>
              <a:gd name="adj" fmla="val 0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6540" y="1755648"/>
            <a:ext cx="45720" cy="324612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823" y="1783080"/>
            <a:ext cx="5230368" cy="3118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ptos"/>
              </a:rPr>
              <a:t>Vista administrativa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637" y="2007108"/>
            <a:ext cx="5074920" cy="2894076"/>
          </a:xfrm>
          <a:prstGeom prst="roundRect">
            <a:avLst>
              <a:gd name="adj" fmla="val 6055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U-17_Gestion_de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719" y="2079640"/>
            <a:ext cx="4914818" cy="276458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632" y="1783080"/>
            <a:ext cx="5321808" cy="3246120"/>
          </a:xfrm>
          <a:prstGeom prst="roundRect">
            <a:avLst>
              <a:gd name="adj" fmla="val 1185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783080"/>
            <a:ext cx="45720" cy="3246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18504" y="1780567"/>
            <a:ext cx="5157216" cy="3118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ptos"/>
              </a:rPr>
              <a:t>Vista cliente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029968"/>
            <a:ext cx="5010912" cy="2871216"/>
          </a:xfrm>
          <a:prstGeom prst="roundRect">
            <a:avLst>
              <a:gd name="adj" fmla="val 329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MU-64_Consulta_de_mi_rut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174" y="2083068"/>
            <a:ext cx="4908723" cy="276115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31520" y="5257799"/>
            <a:ext cx="3291840" cy="827205"/>
          </a:xfrm>
          <a:prstGeom prst="roundRect">
            <a:avLst>
              <a:gd name="adj" fmla="val 9916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5257800"/>
            <a:ext cx="45719" cy="773052"/>
          </a:xfrm>
          <a:prstGeom prst="rect">
            <a:avLst/>
          </a:prstGeom>
          <a:solidFill>
            <a:srgbClr val="1272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" y="5330952"/>
            <a:ext cx="31272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Base tecnológica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E1EBF2"/>
                </a:solidFill>
                <a:latin typeface="Aptos"/>
              </a:rPr>
              <a:t>HTML · CSS · JavaScript · localStorage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5257799"/>
            <a:ext cx="3291840" cy="827205"/>
          </a:xfrm>
          <a:prstGeom prst="roundRect">
            <a:avLst>
              <a:gd name="adj" fmla="val 7385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24528" y="5257800"/>
            <a:ext cx="45719" cy="8272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34256" y="5330952"/>
            <a:ext cx="3127248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FFFFF"/>
                </a:solidFill>
                <a:latin typeface="Aptos"/>
              </a:rPr>
              <a:t>Cobertura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del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prototipo</a:t>
            </a:r>
            <a:endParaRPr sz="16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100" dirty="0">
                <a:solidFill>
                  <a:srgbClr val="E1EBF2"/>
                </a:solidFill>
                <a:latin typeface="Aptos"/>
              </a:rPr>
              <a:t>12 de 19 RF Must </a:t>
            </a:r>
            <a:r>
              <a:rPr sz="1100" dirty="0" err="1">
                <a:solidFill>
                  <a:srgbClr val="E1EBF2"/>
                </a:solidFill>
                <a:latin typeface="Aptos"/>
              </a:rPr>
              <a:t>representados</a:t>
            </a:r>
            <a:r>
              <a:rPr sz="1100" dirty="0">
                <a:solidFill>
                  <a:srgbClr val="E1EBF2"/>
                </a:solidFill>
                <a:latin typeface="Aptos"/>
              </a:rPr>
              <a:t> </a:t>
            </a:r>
            <a:r>
              <a:rPr sz="1100" dirty="0" err="1">
                <a:solidFill>
                  <a:srgbClr val="E1EBF2"/>
                </a:solidFill>
                <a:latin typeface="Aptos"/>
              </a:rPr>
              <a:t>en</a:t>
            </a:r>
            <a:r>
              <a:rPr sz="1100" dirty="0">
                <a:solidFill>
                  <a:srgbClr val="E1EBF2"/>
                </a:solidFill>
                <a:latin typeface="Aptos"/>
              </a:rPr>
              <a:t> el </a:t>
            </a:r>
            <a:r>
              <a:rPr sz="1100" dirty="0" err="1">
                <a:solidFill>
                  <a:srgbClr val="E1EBF2"/>
                </a:solidFill>
                <a:latin typeface="Aptos"/>
              </a:rPr>
              <a:t>prototipo</a:t>
            </a:r>
            <a:r>
              <a:rPr sz="1100" dirty="0">
                <a:solidFill>
                  <a:srgbClr val="E1EBF2"/>
                </a:solidFill>
                <a:latin typeface="Aptos"/>
              </a:rPr>
              <a:t> 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79" y="5257799"/>
            <a:ext cx="3657600" cy="827205"/>
          </a:xfrm>
          <a:prstGeom prst="roundRect">
            <a:avLst>
              <a:gd name="adj" fmla="val 9073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26679" y="5257800"/>
            <a:ext cx="45720" cy="773052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36407" y="5330952"/>
            <a:ext cx="3493008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Alcance declarado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E1EBF2"/>
                </a:solidFill>
                <a:latin typeface="Aptos"/>
              </a:rPr>
              <a:t>No incluye backend productivo, base de datos definitiva ni motor IA entrenado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10 · VALIDACIÓN DE REQUISITOS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>
                <a:solidFill>
                  <a:srgbClr val="FFFFFF"/>
                </a:solidFill>
                <a:latin typeface="Aptos"/>
              </a:rPr>
              <a:t>Los walkthroughs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técnicos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aportan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hallazgos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accionables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600" dirty="0">
                <a:solidFill>
                  <a:srgbClr val="B4C4D0"/>
                </a:solidFill>
                <a:latin typeface="Aptos"/>
              </a:rPr>
              <a:t>La </a:t>
            </a:r>
            <a:r>
              <a:rPr sz="1600" dirty="0" err="1">
                <a:solidFill>
                  <a:srgbClr val="B4C4D0"/>
                </a:solidFill>
                <a:latin typeface="Aptos"/>
              </a:rPr>
              <a:t>validación</a:t>
            </a:r>
            <a:r>
              <a:rPr sz="1600" dirty="0">
                <a:solidFill>
                  <a:srgbClr val="B4C4D0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B4C4D0"/>
                </a:solidFill>
                <a:latin typeface="Aptos"/>
              </a:rPr>
              <a:t>revisa</a:t>
            </a:r>
            <a:r>
              <a:rPr sz="1600" dirty="0">
                <a:solidFill>
                  <a:srgbClr val="B4C4D0"/>
                </a:solidFill>
                <a:latin typeface="Aptos"/>
              </a:rPr>
              <a:t> el ERS/SRS, </a:t>
            </a:r>
            <a:r>
              <a:rPr sz="1600" dirty="0" err="1">
                <a:solidFill>
                  <a:srgbClr val="B4C4D0"/>
                </a:solidFill>
                <a:latin typeface="Aptos"/>
              </a:rPr>
              <a:t>identifica</a:t>
            </a:r>
            <a:r>
              <a:rPr sz="1600" dirty="0">
                <a:solidFill>
                  <a:srgbClr val="B4C4D0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B4C4D0"/>
                </a:solidFill>
                <a:latin typeface="Aptos"/>
              </a:rPr>
              <a:t>ajustes</a:t>
            </a:r>
            <a:r>
              <a:rPr sz="1600" dirty="0">
                <a:solidFill>
                  <a:srgbClr val="B4C4D0"/>
                </a:solidFill>
                <a:latin typeface="Aptos"/>
              </a:rPr>
              <a:t> y </a:t>
            </a:r>
            <a:r>
              <a:rPr sz="1600" dirty="0" err="1">
                <a:solidFill>
                  <a:srgbClr val="B4C4D0"/>
                </a:solidFill>
                <a:latin typeface="Aptos"/>
              </a:rPr>
              <a:t>fortalece</a:t>
            </a:r>
            <a:r>
              <a:rPr sz="1600" dirty="0">
                <a:solidFill>
                  <a:srgbClr val="B4C4D0"/>
                </a:solidFill>
                <a:latin typeface="Aptos"/>
              </a:rPr>
              <a:t> la </a:t>
            </a:r>
            <a:r>
              <a:rPr sz="1600" dirty="0" err="1">
                <a:solidFill>
                  <a:srgbClr val="B4C4D0"/>
                </a:solidFill>
                <a:latin typeface="Aptos"/>
              </a:rPr>
              <a:t>coherencia</a:t>
            </a:r>
            <a:r>
              <a:rPr sz="1600" dirty="0">
                <a:solidFill>
                  <a:srgbClr val="B4C4D0"/>
                </a:solidFill>
                <a:latin typeface="Aptos"/>
              </a:rPr>
              <a:t> del </a:t>
            </a:r>
            <a:r>
              <a:rPr sz="1600" dirty="0" err="1">
                <a:solidFill>
                  <a:srgbClr val="B4C4D0"/>
                </a:solidFill>
                <a:latin typeface="Aptos"/>
              </a:rPr>
              <a:t>proyecto</a:t>
            </a:r>
            <a:r>
              <a:rPr sz="16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36341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920240"/>
            <a:ext cx="1737360" cy="114300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924467"/>
            <a:ext cx="1291238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dirty="0">
                <a:solidFill>
                  <a:srgbClr val="10B981"/>
                </a:solidFill>
              </a:rPr>
              <a:t>3</a:t>
            </a:r>
          </a:p>
          <a:p>
            <a:r>
              <a:rPr sz="1400" b="1" dirty="0" err="1">
                <a:solidFill>
                  <a:srgbClr val="FFFFFF"/>
                </a:solidFill>
              </a:rPr>
              <a:t>sesiones</a:t>
            </a:r>
            <a:r>
              <a:rPr sz="1400" b="1" dirty="0">
                <a:solidFill>
                  <a:srgbClr val="FFFFFF"/>
                </a:solidFill>
              </a:rPr>
              <a:t>
</a:t>
            </a:r>
            <a:r>
              <a:rPr sz="1400" b="1" dirty="0" err="1">
                <a:solidFill>
                  <a:srgbClr val="FFFFFF"/>
                </a:solidFill>
              </a:rPr>
              <a:t>técnicas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788920" y="1920240"/>
            <a:ext cx="1737360" cy="114300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53511" y="1924467"/>
            <a:ext cx="1631383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dirty="0">
                <a:solidFill>
                  <a:srgbClr val="1272B1"/>
                </a:solidFill>
              </a:rPr>
              <a:t>39</a:t>
            </a:r>
          </a:p>
          <a:p>
            <a:r>
              <a:rPr sz="1400" b="1" dirty="0" err="1">
                <a:solidFill>
                  <a:srgbClr val="FFFFFF"/>
                </a:solidFill>
              </a:rPr>
              <a:t>fragmentos</a:t>
            </a:r>
            <a:r>
              <a:rPr sz="1400" b="1" dirty="0">
                <a:solidFill>
                  <a:srgbClr val="FFFFFF"/>
                </a:solidFill>
              </a:rPr>
              <a:t>
</a:t>
            </a:r>
            <a:r>
              <a:rPr sz="1400" b="1" dirty="0" err="1">
                <a:solidFill>
                  <a:srgbClr val="FFFFFF"/>
                </a:solidFill>
              </a:rPr>
              <a:t>codificados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800600" y="1920240"/>
            <a:ext cx="1737360" cy="114300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65192" y="1924467"/>
            <a:ext cx="182889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dirty="0">
                <a:solidFill>
                  <a:srgbClr val="F5BF42"/>
                </a:solidFill>
              </a:rPr>
              <a:t>18</a:t>
            </a:r>
          </a:p>
          <a:p>
            <a:r>
              <a:rPr sz="1400" b="1" dirty="0" err="1">
                <a:solidFill>
                  <a:srgbClr val="FFFFFF"/>
                </a:solidFill>
              </a:rPr>
              <a:t>hallazgos</a:t>
            </a:r>
            <a:r>
              <a:rPr sz="1400" b="1" dirty="0">
                <a:solidFill>
                  <a:srgbClr val="FFFFFF"/>
                </a:solidFill>
              </a:rPr>
              <a:t>
</a:t>
            </a:r>
            <a:r>
              <a:rPr sz="1400" b="1" dirty="0" err="1">
                <a:solidFill>
                  <a:srgbClr val="FFFFFF"/>
                </a:solidFill>
              </a:rPr>
              <a:t>consolidados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812280" y="1920240"/>
            <a:ext cx="1737360" cy="1143000"/>
          </a:xfrm>
          <a:prstGeom prst="roundRect">
            <a:avLst/>
          </a:prstGeom>
          <a:solidFill>
            <a:srgbClr val="092D4A"/>
          </a:solidFill>
          <a:ln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76872" y="1924467"/>
            <a:ext cx="1572768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dirty="0">
                <a:solidFill>
                  <a:srgbClr val="32C8FF"/>
                </a:solidFill>
              </a:rPr>
              <a:t>16</a:t>
            </a:r>
          </a:p>
          <a:p>
            <a:r>
              <a:rPr sz="1400" b="1" dirty="0" err="1">
                <a:solidFill>
                  <a:srgbClr val="FFFFFF"/>
                </a:solidFill>
              </a:rPr>
              <a:t>cambios</a:t>
            </a:r>
            <a:r>
              <a:rPr sz="1400" b="1" dirty="0">
                <a:solidFill>
                  <a:srgbClr val="FFFFFF"/>
                </a:solidFill>
              </a:rPr>
              <a:t>
</a:t>
            </a:r>
            <a:r>
              <a:rPr sz="1400" b="1" dirty="0" err="1">
                <a:solidFill>
                  <a:srgbClr val="FFFFFF"/>
                </a:solidFill>
              </a:rPr>
              <a:t>candidatos</a:t>
            </a:r>
            <a:endParaRPr sz="1400" b="1" dirty="0">
              <a:solidFill>
                <a:srgbClr val="FFFFFF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869680" y="1828800"/>
            <a:ext cx="2468880" cy="1280160"/>
          </a:xfrm>
          <a:prstGeom prst="roundRect">
            <a:avLst>
              <a:gd name="adj" fmla="val 9579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45720" cy="128016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79408" y="1901952"/>
            <a:ext cx="2304288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FFFFFF"/>
                </a:solidFill>
                <a:latin typeface="Aptos"/>
              </a:rPr>
              <a:t>Flujo</a:t>
            </a:r>
            <a:r>
              <a:rPr b="1" dirty="0">
                <a:solidFill>
                  <a:srgbClr val="FFFFFF"/>
                </a:solidFill>
                <a:latin typeface="Aptos"/>
              </a:rPr>
              <a:t> de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validación</a:t>
            </a:r>
            <a:endParaRPr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E1EBF2"/>
                </a:solidFill>
                <a:latin typeface="Aptos"/>
              </a:rPr>
              <a:t>Walkthrough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técnico</a:t>
            </a:r>
            <a:r>
              <a:rPr sz="1200" dirty="0">
                <a:solidFill>
                  <a:srgbClr val="E1EBF2"/>
                </a:solidFill>
                <a:latin typeface="Aptos"/>
              </a:rPr>
              <a:t> →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síntesis</a:t>
            </a:r>
            <a:r>
              <a:rPr sz="1200" dirty="0">
                <a:solidFill>
                  <a:srgbClr val="E1EBF2"/>
                </a:solidFill>
                <a:latin typeface="Aptos"/>
              </a:rPr>
              <a:t> de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hallazgos</a:t>
            </a:r>
            <a:r>
              <a:rPr sz="1200" dirty="0">
                <a:solidFill>
                  <a:srgbClr val="E1EBF2"/>
                </a:solidFill>
                <a:latin typeface="Aptos"/>
              </a:rPr>
              <a:t> →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ajuste</a:t>
            </a:r>
            <a:r>
              <a:rPr sz="1200" dirty="0">
                <a:solidFill>
                  <a:srgbClr val="E1EBF2"/>
                </a:solidFill>
                <a:latin typeface="Aptos"/>
              </a:rPr>
              <a:t> de ERS/SRS → control de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cambios</a:t>
            </a:r>
            <a:endParaRPr sz="1200" dirty="0">
              <a:solidFill>
                <a:srgbClr val="E1EBF2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77240" y="3429000"/>
            <a:ext cx="5120640" cy="1097280"/>
          </a:xfrm>
          <a:prstGeom prst="roundRect">
            <a:avLst>
              <a:gd name="adj" fmla="val 7018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429000"/>
            <a:ext cx="45720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3502152"/>
            <a:ext cx="495604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FFFFFF"/>
                </a:solidFill>
                <a:latin typeface="Aptos"/>
              </a:rPr>
              <a:t>Temas </a:t>
            </a:r>
            <a:r>
              <a:rPr sz="2000" b="1" dirty="0" err="1">
                <a:solidFill>
                  <a:srgbClr val="FFFFFF"/>
                </a:solidFill>
                <a:latin typeface="Aptos"/>
              </a:rPr>
              <a:t>revisados</a:t>
            </a:r>
            <a:endParaRPr sz="20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 err="1">
                <a:solidFill>
                  <a:srgbClr val="E1EBF2"/>
                </a:solidFill>
                <a:latin typeface="Aptos"/>
              </a:rPr>
              <a:t>Consistencia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requisitos</a:t>
            </a:r>
            <a:r>
              <a:rPr sz="1400" dirty="0">
                <a:solidFill>
                  <a:srgbClr val="E1EBF2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alcance</a:t>
            </a:r>
            <a:r>
              <a:rPr sz="1400" dirty="0">
                <a:solidFill>
                  <a:srgbClr val="E1EBF2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trazabilidad</a:t>
            </a:r>
            <a:r>
              <a:rPr sz="1400" dirty="0">
                <a:solidFill>
                  <a:srgbClr val="E1EBF2"/>
                </a:solidFill>
                <a:latin typeface="Aptos"/>
              </a:rPr>
              <a:t>, mockups,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claridad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casos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uso</a:t>
            </a:r>
            <a:r>
              <a:rPr sz="1400" dirty="0">
                <a:solidFill>
                  <a:srgbClr val="E1EBF2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preparación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del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enfoque</a:t>
            </a:r>
            <a:r>
              <a:rPr sz="1400" dirty="0">
                <a:solidFill>
                  <a:srgbClr val="E1EBF2"/>
                </a:solidFill>
                <a:latin typeface="Aptos"/>
              </a:rPr>
              <a:t> 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3429000"/>
            <a:ext cx="5257800" cy="1097280"/>
          </a:xfrm>
          <a:prstGeom prst="roundRect">
            <a:avLst>
              <a:gd name="adj" fmla="val 4386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0760" y="3429000"/>
            <a:ext cx="45720" cy="109728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90488" y="3502152"/>
            <a:ext cx="509320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FFFFFF"/>
                </a:solidFill>
                <a:latin typeface="Aptos"/>
              </a:rPr>
              <a:t>Cierre </a:t>
            </a:r>
            <a:r>
              <a:rPr sz="2000" b="1" dirty="0" err="1">
                <a:solidFill>
                  <a:srgbClr val="FFFFFF"/>
                </a:solidFill>
                <a:latin typeface="Aptos"/>
              </a:rPr>
              <a:t>metodológico</a:t>
            </a:r>
            <a:endParaRPr sz="20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E1EBF2"/>
                </a:solidFill>
                <a:latin typeface="Aptos"/>
              </a:rPr>
              <a:t>Para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completar</a:t>
            </a:r>
            <a:r>
              <a:rPr sz="1400" dirty="0">
                <a:solidFill>
                  <a:srgbClr val="E1EBF2"/>
                </a:solidFill>
                <a:latin typeface="Aptos"/>
              </a:rPr>
              <a:t> la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fase</a:t>
            </a:r>
            <a:r>
              <a:rPr sz="1400" dirty="0">
                <a:solidFill>
                  <a:srgbClr val="E1EBF2"/>
                </a:solidFill>
                <a:latin typeface="Aptos"/>
              </a:rPr>
              <a:t> final se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prevé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una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ronda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 walkthroughs no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técnicos</a:t>
            </a:r>
            <a:r>
              <a:rPr sz="1400" dirty="0">
                <a:solidFill>
                  <a:srgbClr val="E1EBF2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una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sesión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 member checking.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846319"/>
            <a:ext cx="10561320" cy="830997"/>
          </a:xfrm>
          <a:prstGeom prst="roundRect">
            <a:avLst>
              <a:gd name="adj" fmla="val 6243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77240" y="4846320"/>
            <a:ext cx="45720" cy="830996"/>
          </a:xfrm>
          <a:prstGeom prst="rect">
            <a:avLst/>
          </a:prstGeom>
          <a:solidFill>
            <a:srgbClr val="1272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6968" y="4919472"/>
            <a:ext cx="103967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 err="1">
                <a:solidFill>
                  <a:srgbClr val="FFFFFF"/>
                </a:solidFill>
                <a:latin typeface="Aptos"/>
              </a:rPr>
              <a:t>Sentido</a:t>
            </a:r>
            <a:r>
              <a:rPr sz="1600" dirty="0">
                <a:solidFill>
                  <a:srgbClr val="FFFFFF"/>
                </a:solidFill>
                <a:latin typeface="Aptos"/>
              </a:rPr>
              <a:t> de la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validación</a:t>
            </a:r>
            <a:endParaRPr sz="1600" dirty="0">
              <a:solidFill>
                <a:srgbClr val="FFFFFF"/>
              </a:solidFill>
              <a:latin typeface="Aptos"/>
            </a:endParaRPr>
          </a:p>
          <a:p>
            <a:r>
              <a:rPr sz="1600" dirty="0">
                <a:solidFill>
                  <a:srgbClr val="FFFFFF"/>
                </a:solidFill>
                <a:latin typeface="Aptos"/>
              </a:rPr>
              <a:t>La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validación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técnica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funciona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como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antecedente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formativo</a:t>
            </a:r>
            <a:r>
              <a:rPr sz="1600" dirty="0">
                <a:solidFill>
                  <a:srgbClr val="FFFFFF"/>
                </a:solidFill>
                <a:latin typeface="Aptos"/>
              </a:rPr>
              <a:t> del ERS/SRS y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prepara</a:t>
            </a:r>
            <a:r>
              <a:rPr sz="1600" dirty="0">
                <a:solidFill>
                  <a:srgbClr val="FFFFFF"/>
                </a:solidFill>
                <a:latin typeface="Aptos"/>
              </a:rPr>
              <a:t> el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estudio</a:t>
            </a:r>
            <a:r>
              <a:rPr sz="1600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empírico</a:t>
            </a:r>
            <a:r>
              <a:rPr sz="1600" dirty="0">
                <a:solidFill>
                  <a:srgbClr val="FFFFFF"/>
                </a:solidFill>
                <a:latin typeface="Aptos"/>
              </a:rPr>
              <a:t> del </a:t>
            </a:r>
            <a:r>
              <a:rPr sz="1600" dirty="0" err="1">
                <a:solidFill>
                  <a:srgbClr val="FFFFFF"/>
                </a:solidFill>
                <a:latin typeface="Aptos"/>
              </a:rPr>
              <a:t>Enfoque</a:t>
            </a:r>
            <a:r>
              <a:rPr sz="1600" dirty="0">
                <a:solidFill>
                  <a:srgbClr val="FFFFFF"/>
                </a:solidFill>
                <a:latin typeface="Aptos"/>
              </a:rPr>
              <a:t> 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11 · ENFOQUE 3 · EXPLICABILIDAD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0012680" cy="77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>
                <a:solidFill>
                  <a:srgbClr val="FFFFFF"/>
                </a:solidFill>
                <a:latin typeface="Aptos"/>
              </a:rPr>
              <a:t>La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recomendación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de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rutinas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se traduce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en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requisitos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verificables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objetivo</a:t>
            </a:r>
            <a:r>
              <a:rPr sz="1400" dirty="0">
                <a:solidFill>
                  <a:srgbClr val="B4C4D0"/>
                </a:solidFill>
                <a:latin typeface="Aptos"/>
              </a:rPr>
              <a:t> es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definir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qué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explicación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necesita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cada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perfil</a:t>
            </a:r>
            <a:r>
              <a:rPr sz="1400" dirty="0">
                <a:solidFill>
                  <a:srgbClr val="B4C4D0"/>
                </a:solidFill>
                <a:latin typeface="Aptos"/>
              </a:rPr>
              <a:t> para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comprender</a:t>
            </a:r>
            <a:r>
              <a:rPr sz="1400" dirty="0">
                <a:solidFill>
                  <a:srgbClr val="B4C4D0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aceptar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una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recomendación</a:t>
            </a:r>
            <a:r>
              <a:rPr sz="14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" y="1461036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13232" y="1828800"/>
            <a:ext cx="2971800" cy="1437612"/>
          </a:xfrm>
          <a:prstGeom prst="roundRect">
            <a:avLst>
              <a:gd name="adj" fmla="val 7294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" y="1828800"/>
            <a:ext cx="54864" cy="143761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901952"/>
            <a:ext cx="280720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FFFFFF"/>
                </a:solidFill>
                <a:latin typeface="Aptos"/>
              </a:rPr>
              <a:t>RQ1</a:t>
            </a: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E1EBF2"/>
                </a:solidFill>
                <a:latin typeface="Aptos"/>
              </a:rPr>
              <a:t>¿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Qué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requisitos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explicabilidad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emergen</a:t>
            </a:r>
            <a:r>
              <a:rPr sz="1400" dirty="0">
                <a:solidFill>
                  <a:srgbClr val="E1EBF2"/>
                </a:solidFill>
                <a:latin typeface="Aptos"/>
              </a:rPr>
              <a:t> para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perfiles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técnicos</a:t>
            </a:r>
            <a:r>
              <a:rPr sz="1400" dirty="0">
                <a:solidFill>
                  <a:srgbClr val="E1EBF2"/>
                </a:solidFill>
                <a:latin typeface="Aptos"/>
              </a:rPr>
              <a:t> y no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técnicos</a:t>
            </a:r>
            <a:r>
              <a:rPr sz="1400" dirty="0">
                <a:solidFill>
                  <a:srgbClr val="E1EBF2"/>
                </a:solidFill>
                <a:latin typeface="Aptos"/>
              </a:rPr>
              <a:t> ante un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recomendador</a:t>
            </a:r>
            <a:r>
              <a:rPr sz="1400" dirty="0">
                <a:solidFill>
                  <a:srgbClr val="E1EBF2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rutinas</a:t>
            </a:r>
            <a:r>
              <a:rPr sz="1400" dirty="0">
                <a:solidFill>
                  <a:srgbClr val="E1EBF2"/>
                </a:solidFill>
                <a:latin typeface="Aptos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8768" y="1828800"/>
            <a:ext cx="2971800" cy="1437612"/>
          </a:xfrm>
          <a:prstGeom prst="roundRect">
            <a:avLst>
              <a:gd name="adj" fmla="val 8325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858768" y="1828800"/>
            <a:ext cx="54864" cy="14376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68496" y="1901952"/>
            <a:ext cx="280720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RQ2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1EBF2"/>
                </a:solidFill>
                <a:latin typeface="Aptos"/>
              </a:rPr>
              <a:t>¿Existen diferencias en la percepción de la explicabilidad cuando ambos perfiles evalúan la misma explicación?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59168" y="1783080"/>
            <a:ext cx="4297680" cy="1483332"/>
          </a:xfrm>
          <a:prstGeom prst="roundRect">
            <a:avLst>
              <a:gd name="adj" fmla="val 6624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59168" y="1783080"/>
            <a:ext cx="54864" cy="145770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68896" y="1856232"/>
            <a:ext cx="413308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Flujo del estudio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E1EBF2"/>
                </a:solidFill>
                <a:latin typeface="Aptos"/>
              </a:rPr>
              <a:t>Rutina sugerida → explicación visible → walkthrough y escala Likert → RNF verificables de explicabilidad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755855"/>
              </p:ext>
            </p:extLst>
          </p:nvPr>
        </p:nvGraphicFramePr>
        <p:xfrm>
          <a:off x="713232" y="3853353"/>
          <a:ext cx="10625327" cy="211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3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95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Candidato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Sentido funcional</a:t>
                      </a:r>
                    </a:p>
                  </a:txBody>
                  <a:tcPr>
                    <a:solidFill>
                      <a:srgbClr val="1272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1414"/>
                          </a:solidFill>
                        </a:rPr>
                        <a:t>N-RF-IA-01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Generar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recomendación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de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rutina</a:t>
                      </a:r>
                      <a:endParaRPr sz="1600" dirty="0">
                        <a:solidFill>
                          <a:srgbClr val="141414"/>
                        </a:solidFill>
                      </a:endParaRP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1414"/>
                          </a:solidFill>
                        </a:rPr>
                        <a:t>Se presenta como apoyo a la decisión, no como automatización cerrada.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1414"/>
                          </a:solidFill>
                        </a:rPr>
                        <a:t>N-RNF-EXP-01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Explicar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la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recomendación</a:t>
                      </a:r>
                      <a:endParaRPr sz="1600" dirty="0">
                        <a:solidFill>
                          <a:srgbClr val="141414"/>
                        </a:solidFill>
                      </a:endParaRPr>
                    </a:p>
                  </a:txBody>
                  <a:tcPr>
                    <a:solidFill>
                      <a:srgbClr val="EB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1414"/>
                          </a:solidFill>
                        </a:rPr>
                        <a:t>La explicación debe mostrar factores principales en lenguaje comprensible.</a:t>
                      </a:r>
                    </a:p>
                  </a:txBody>
                  <a:tcPr>
                    <a:solidFill>
                      <a:srgbClr val="EB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1414"/>
                          </a:solidFill>
                        </a:rPr>
                        <a:t>N-RF-IA-02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Mantener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control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humano</a:t>
                      </a:r>
                      <a:endParaRPr sz="1600" dirty="0">
                        <a:solidFill>
                          <a:srgbClr val="141414"/>
                        </a:solidFill>
                      </a:endParaRPr>
                    </a:p>
                  </a:txBody>
                  <a:tcPr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>
                          <a:solidFill>
                            <a:srgbClr val="141414"/>
                          </a:solidFill>
                        </a:rPr>
                        <a:t>El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usuario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puede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aceptar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,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rechazar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o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solicitar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una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 </a:t>
                      </a:r>
                      <a:r>
                        <a:rPr sz="1600" dirty="0" err="1">
                          <a:solidFill>
                            <a:srgbClr val="141414"/>
                          </a:solidFill>
                        </a:rPr>
                        <a:t>alternativa</a:t>
                      </a:r>
                      <a:r>
                        <a:rPr sz="1600" dirty="0">
                          <a:solidFill>
                            <a:srgbClr val="141414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rgbClr val="F6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12 · REPOSITORIO Y REPRODUCIBILIDAD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GitHub organiza los artefactos del proyecto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4C4D0"/>
                </a:solidFill>
                <a:latin typeface="Aptos"/>
              </a:rPr>
              <a:t>El repositorio muestra la estructura de trabajo y prepara el cierre metodológico del paquete académico.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86527" y="1929384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6255" y="2002536"/>
            <a:ext cx="78418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41414"/>
                </a:solidFill>
                <a:latin typeface="Aptos"/>
              </a:rPr>
              <a:t>01_ERS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8168" y="1925249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87896" y="1998401"/>
            <a:ext cx="134806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02_Evidencias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69809" y="1906087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79537" y="1979239"/>
            <a:ext cx="127631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03_Modelado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1450" y="1915668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42045" y="1988820"/>
            <a:ext cx="14511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41414"/>
                </a:solidFill>
                <a:latin typeface="Aptos"/>
              </a:rPr>
              <a:t>04_Trazabilidad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3091" y="1912727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2819" y="1985879"/>
            <a:ext cx="82747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41414"/>
                </a:solidFill>
                <a:latin typeface="Aptos"/>
              </a:rPr>
              <a:t>05_MVP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49013" y="1906087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58741" y="1979239"/>
            <a:ext cx="149983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41414"/>
                </a:solidFill>
                <a:latin typeface="Aptos"/>
              </a:rPr>
              <a:t>06_Experimento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56069" y="2534341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65797" y="2607493"/>
            <a:ext cx="87087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08_Etica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4120" y="2531435"/>
            <a:ext cx="1427480" cy="438912"/>
          </a:xfrm>
          <a:prstGeom prst="roundRect">
            <a:avLst/>
          </a:prstGeom>
          <a:solidFill>
            <a:srgbClr val="F0F4F7"/>
          </a:solidFill>
          <a:ln w="8890">
            <a:solidFill>
              <a:srgbClr val="3A7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3848" y="2604587"/>
            <a:ext cx="114185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1414"/>
                </a:solidFill>
                <a:latin typeface="Aptos"/>
              </a:rPr>
              <a:t>09_Defensa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657600"/>
            <a:ext cx="3200400" cy="100584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" y="3657600"/>
            <a:ext cx="45720" cy="100584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8408" y="3730752"/>
            <a:ext cx="30358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ptos"/>
              </a:rPr>
              <a:t>GitHub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como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base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operativa</a:t>
            </a:r>
            <a:endParaRPr sz="16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100" dirty="0" err="1">
                <a:solidFill>
                  <a:srgbClr val="E1EBF2"/>
                </a:solidFill>
                <a:latin typeface="Aptos"/>
              </a:rPr>
              <a:t>Conserva</a:t>
            </a:r>
            <a:r>
              <a:rPr sz="1100" dirty="0">
                <a:solidFill>
                  <a:srgbClr val="E1EBF2"/>
                </a:solidFill>
                <a:latin typeface="Aptos"/>
              </a:rPr>
              <a:t> el ERS/SRS, </a:t>
            </a:r>
            <a:r>
              <a:rPr sz="1100" dirty="0" err="1">
                <a:solidFill>
                  <a:srgbClr val="E1EBF2"/>
                </a:solidFill>
                <a:latin typeface="Aptos"/>
              </a:rPr>
              <a:t>los</a:t>
            </a:r>
            <a:r>
              <a:rPr sz="1100" dirty="0">
                <a:solidFill>
                  <a:srgbClr val="E1EBF2"/>
                </a:solidFill>
                <a:latin typeface="Aptos"/>
              </a:rPr>
              <a:t> </a:t>
            </a:r>
            <a:r>
              <a:rPr sz="1100" dirty="0" err="1">
                <a:solidFill>
                  <a:srgbClr val="E1EBF2"/>
                </a:solidFill>
                <a:latin typeface="Aptos"/>
              </a:rPr>
              <a:t>modelos</a:t>
            </a:r>
            <a:r>
              <a:rPr sz="1100" dirty="0">
                <a:solidFill>
                  <a:srgbClr val="E1EBF2"/>
                </a:solidFill>
                <a:latin typeface="Aptos"/>
              </a:rPr>
              <a:t>, el </a:t>
            </a:r>
            <a:r>
              <a:rPr sz="1100" dirty="0" err="1">
                <a:solidFill>
                  <a:srgbClr val="E1EBF2"/>
                </a:solidFill>
                <a:latin typeface="Aptos"/>
              </a:rPr>
              <a:t>prototipo</a:t>
            </a:r>
            <a:r>
              <a:rPr sz="1100" dirty="0">
                <a:solidFill>
                  <a:srgbClr val="E1EBF2"/>
                </a:solidFill>
                <a:latin typeface="Aptos"/>
              </a:rPr>
              <a:t>, las matrices y la </a:t>
            </a:r>
            <a:r>
              <a:rPr sz="1100" dirty="0" err="1">
                <a:solidFill>
                  <a:srgbClr val="E1EBF2"/>
                </a:solidFill>
                <a:latin typeface="Aptos"/>
              </a:rPr>
              <a:t>documentación</a:t>
            </a:r>
            <a:r>
              <a:rPr sz="1100" dirty="0">
                <a:solidFill>
                  <a:srgbClr val="E1EBF2"/>
                </a:solidFill>
                <a:latin typeface="Aptos"/>
              </a:rPr>
              <a:t> de defensa.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657600"/>
            <a:ext cx="3108960" cy="100584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80560" y="3657600"/>
            <a:ext cx="45720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90288" y="3730752"/>
            <a:ext cx="29443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OSF y depósitos académicos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E1EBF2"/>
                </a:solidFill>
                <a:latin typeface="Aptos"/>
              </a:rPr>
              <a:t>El protocolo, los desvíos y los artefactos depositables cierran la trazabilidad metodológica.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3657600"/>
            <a:ext cx="3246120" cy="100584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01000" y="3657600"/>
            <a:ext cx="45720" cy="100584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10728" y="3730752"/>
            <a:ext cx="30815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Integridad y apertura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E1EBF2"/>
                </a:solidFill>
                <a:latin typeface="Aptos"/>
              </a:rPr>
              <a:t>La evidencia pública se anonimiza y el paquete final debe poder ser revisado sin exponer datos sensibles.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4983480"/>
            <a:ext cx="10378440" cy="685800"/>
          </a:xfrm>
          <a:prstGeom prst="roundRect">
            <a:avLst/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68680" y="4983480"/>
            <a:ext cx="45720" cy="685800"/>
          </a:xfrm>
          <a:prstGeom prst="rect">
            <a:avLst/>
          </a:prstGeom>
          <a:solidFill>
            <a:srgbClr val="1272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8" y="5056632"/>
            <a:ext cx="102138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 err="1">
                <a:solidFill>
                  <a:srgbClr val="FFFFFF"/>
                </a:solidFill>
                <a:latin typeface="Aptos"/>
              </a:rPr>
              <a:t>Ubicación</a:t>
            </a:r>
            <a:r>
              <a:rPr sz="1400" dirty="0">
                <a:solidFill>
                  <a:srgbClr val="FFFFFF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rápida</a:t>
            </a:r>
            <a:r>
              <a:rPr sz="1400" dirty="0">
                <a:solidFill>
                  <a:srgbClr val="FFFFFF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artefactos</a:t>
            </a:r>
            <a:endParaRPr sz="1400" dirty="0">
              <a:solidFill>
                <a:srgbClr val="FFFFFF"/>
              </a:solidFill>
              <a:latin typeface="Aptos"/>
            </a:endParaRPr>
          </a:p>
          <a:p>
            <a:r>
              <a:rPr sz="1400" dirty="0">
                <a:solidFill>
                  <a:srgbClr val="FFFFFF"/>
                </a:solidFill>
                <a:latin typeface="Aptos"/>
              </a:rPr>
              <a:t>La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organización</a:t>
            </a:r>
            <a:r>
              <a:rPr sz="1400" dirty="0">
                <a:solidFill>
                  <a:srgbClr val="FFFFFF"/>
                </a:solidFill>
                <a:latin typeface="Aptos"/>
              </a:rPr>
              <a:t> del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repositorio</a:t>
            </a:r>
            <a:r>
              <a:rPr sz="1400" dirty="0">
                <a:solidFill>
                  <a:srgbClr val="FFFFFF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permite</a:t>
            </a:r>
            <a:r>
              <a:rPr sz="1400" dirty="0">
                <a:solidFill>
                  <a:srgbClr val="FFFFFF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ubicar</a:t>
            </a:r>
            <a:r>
              <a:rPr sz="1400" dirty="0">
                <a:solidFill>
                  <a:srgbClr val="FFFFFF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rápidamente</a:t>
            </a:r>
            <a:r>
              <a:rPr sz="1400" dirty="0">
                <a:solidFill>
                  <a:srgbClr val="FFFFFF"/>
                </a:solidFill>
                <a:latin typeface="Aptos"/>
              </a:rPr>
              <a:t> ERS,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evidencia</a:t>
            </a:r>
            <a:r>
              <a:rPr sz="1400" dirty="0">
                <a:solidFill>
                  <a:srgbClr val="FFFFFF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modelado</a:t>
            </a:r>
            <a:r>
              <a:rPr sz="1400" dirty="0">
                <a:solidFill>
                  <a:srgbClr val="FFFFFF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trazabilidad</a:t>
            </a:r>
            <a:r>
              <a:rPr sz="1400" dirty="0">
                <a:solidFill>
                  <a:srgbClr val="FFFFFF"/>
                </a:solidFill>
                <a:latin typeface="Aptos"/>
              </a:rPr>
              <a:t>, MVP y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documentos</a:t>
            </a:r>
            <a:r>
              <a:rPr sz="1400" dirty="0">
                <a:solidFill>
                  <a:srgbClr val="FFFFFF"/>
                </a:solidFill>
                <a:latin typeface="Aptos"/>
              </a:rPr>
              <a:t> de </a:t>
            </a:r>
            <a:r>
              <a:rPr sz="1400" dirty="0" err="1">
                <a:solidFill>
                  <a:srgbClr val="FFFFFF"/>
                </a:solidFill>
                <a:latin typeface="Aptos"/>
              </a:rPr>
              <a:t>cierre</a:t>
            </a:r>
            <a:r>
              <a:rPr sz="1400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13 · APORTES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79" y="658368"/>
            <a:ext cx="9782387" cy="779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 err="1">
                <a:solidFill>
                  <a:srgbClr val="FFFFFF"/>
                </a:solidFill>
                <a:latin typeface="Aptos"/>
              </a:rPr>
              <a:t>FabroGym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deja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una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base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defendible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de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requisitos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El valor del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proyecto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está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en</a:t>
            </a:r>
            <a:r>
              <a:rPr sz="1400" dirty="0">
                <a:solidFill>
                  <a:srgbClr val="B4C4D0"/>
                </a:solidFill>
                <a:latin typeface="Aptos"/>
              </a:rPr>
              <a:t> la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línea</a:t>
            </a:r>
            <a:r>
              <a:rPr sz="1400" dirty="0">
                <a:solidFill>
                  <a:srgbClr val="B4C4D0"/>
                </a:solidFill>
                <a:latin typeface="Aptos"/>
              </a:rPr>
              <a:t> base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integrada</a:t>
            </a:r>
            <a:r>
              <a:rPr sz="1400" dirty="0">
                <a:solidFill>
                  <a:srgbClr val="B4C4D0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su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trazabilidad</a:t>
            </a:r>
            <a:r>
              <a:rPr sz="1400" dirty="0">
                <a:solidFill>
                  <a:srgbClr val="B4C4D0"/>
                </a:solidFill>
                <a:latin typeface="Aptos"/>
              </a:rPr>
              <a:t> y la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orientación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correcta</a:t>
            </a:r>
            <a:r>
              <a:rPr sz="1400" dirty="0">
                <a:solidFill>
                  <a:srgbClr val="B4C4D0"/>
                </a:solidFill>
                <a:latin typeface="Aptos"/>
              </a:rPr>
              <a:t> del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enfoque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empírico</a:t>
            </a:r>
            <a:r>
              <a:rPr sz="14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73952"/>
            <a:ext cx="1188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Vaca · 1:40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4572000" cy="1143000"/>
          </a:xfrm>
          <a:prstGeom prst="roundRect">
            <a:avLst>
              <a:gd name="adj" fmla="val 4815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45720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039112"/>
            <a:ext cx="440740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Aptos"/>
              </a:rPr>
              <a:t>ERS/SRS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unificado</a:t>
            </a:r>
            <a:endParaRPr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200" dirty="0">
                <a:solidFill>
                  <a:srgbClr val="E1EBF2"/>
                </a:solidFill>
                <a:latin typeface="Aptos"/>
              </a:rPr>
              <a:t>Integra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gestión</a:t>
            </a:r>
            <a:r>
              <a:rPr sz="1200" dirty="0">
                <a:solidFill>
                  <a:srgbClr val="E1EBF2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administrativa</a:t>
            </a:r>
            <a:r>
              <a:rPr sz="1200" dirty="0">
                <a:solidFill>
                  <a:srgbClr val="E1EBF2"/>
                </a:solidFill>
                <a:latin typeface="Aptos"/>
              </a:rPr>
              <a:t> y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operativa</a:t>
            </a:r>
            <a:r>
              <a:rPr sz="1200" dirty="0">
                <a:solidFill>
                  <a:srgbClr val="E1EBF2"/>
                </a:solidFill>
                <a:latin typeface="Aptos"/>
              </a:rPr>
              <a:t> del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gimnasio</a:t>
            </a:r>
            <a:r>
              <a:rPr sz="1200" dirty="0">
                <a:solidFill>
                  <a:srgbClr val="E1EBF2"/>
                </a:solidFill>
                <a:latin typeface="Apto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965960"/>
            <a:ext cx="4572000" cy="1143000"/>
          </a:xfrm>
          <a:prstGeom prst="roundRect">
            <a:avLst>
              <a:gd name="adj" fmla="val 4815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80760" y="1965960"/>
            <a:ext cx="45720" cy="1143000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90488" y="2039112"/>
            <a:ext cx="440740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Trazabilidad verificable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Conecta evidencia, requisitos, modelos, mockups y pruebas.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29000"/>
            <a:ext cx="4572000" cy="1143000"/>
          </a:xfrm>
          <a:prstGeom prst="roundRect">
            <a:avLst>
              <a:gd name="adj" fmla="val 8519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3429000"/>
            <a:ext cx="45720" cy="1143000"/>
          </a:xfrm>
          <a:prstGeom prst="rect">
            <a:avLst/>
          </a:prstGeom>
          <a:solidFill>
            <a:srgbClr val="F5B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" y="3502152"/>
            <a:ext cx="4407408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Modelado y prototipo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Materializa procesos críticos mediante UML, mockups y HTML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429000"/>
            <a:ext cx="4572000" cy="1143000"/>
          </a:xfrm>
          <a:prstGeom prst="roundRect">
            <a:avLst>
              <a:gd name="adj" fmla="val 8519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80760" y="3429000"/>
            <a:ext cx="45720" cy="1143000"/>
          </a:xfrm>
          <a:prstGeom prst="rect">
            <a:avLst/>
          </a:prstGeom>
          <a:solidFill>
            <a:srgbClr val="1272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90488" y="3502152"/>
            <a:ext cx="440740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>
                <a:solidFill>
                  <a:srgbClr val="FFFFFF"/>
                </a:solidFill>
                <a:latin typeface="Aptos"/>
              </a:rPr>
              <a:t>Enfoque 3 saneado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E1EBF2"/>
                </a:solidFill>
                <a:latin typeface="Aptos"/>
              </a:rPr>
              <a:t>Reorienta el estudio hacia requisitos de explicabilidad.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515600" cy="731520"/>
          </a:xfrm>
          <a:prstGeom prst="roundRect">
            <a:avLst>
              <a:gd name="adj" fmla="val 12037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4983480"/>
            <a:ext cx="4572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056632"/>
            <a:ext cx="1035100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 err="1">
                <a:solidFill>
                  <a:srgbClr val="FFFFFF"/>
                </a:solidFill>
                <a:latin typeface="Aptos"/>
              </a:rPr>
              <a:t>Siguiente</a:t>
            </a:r>
            <a:r>
              <a:rPr b="1" dirty="0">
                <a:solidFill>
                  <a:srgbClr val="FFFFFF"/>
                </a:solidFill>
                <a:latin typeface="Aptos"/>
              </a:rPr>
              <a:t> paso de </a:t>
            </a:r>
            <a:r>
              <a:rPr b="1" dirty="0" err="1">
                <a:solidFill>
                  <a:srgbClr val="FFFFFF"/>
                </a:solidFill>
                <a:latin typeface="Aptos"/>
              </a:rPr>
              <a:t>cierre</a:t>
            </a:r>
            <a:endParaRPr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200" dirty="0" err="1">
                <a:solidFill>
                  <a:srgbClr val="E1EBF2"/>
                </a:solidFill>
                <a:latin typeface="Aptos"/>
              </a:rPr>
              <a:t>Completar</a:t>
            </a:r>
            <a:r>
              <a:rPr sz="1200" dirty="0">
                <a:solidFill>
                  <a:srgbClr val="E1EBF2"/>
                </a:solidFill>
                <a:latin typeface="Aptos"/>
              </a:rPr>
              <a:t> walkthroughs no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técnicos</a:t>
            </a:r>
            <a:r>
              <a:rPr sz="1200" dirty="0">
                <a:solidFill>
                  <a:srgbClr val="E1EBF2"/>
                </a:solidFill>
                <a:latin typeface="Aptos"/>
              </a:rPr>
              <a:t>, member checking y el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depósito</a:t>
            </a:r>
            <a:r>
              <a:rPr sz="1200" dirty="0">
                <a:solidFill>
                  <a:srgbClr val="E1EBF2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metodológico</a:t>
            </a:r>
            <a:r>
              <a:rPr sz="1200" dirty="0">
                <a:solidFill>
                  <a:srgbClr val="E1EBF2"/>
                </a:solidFill>
                <a:latin typeface="Aptos"/>
              </a:rPr>
              <a:t>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correspondiente</a:t>
            </a:r>
            <a:r>
              <a:rPr sz="1200" dirty="0">
                <a:solidFill>
                  <a:srgbClr val="E1EBF2"/>
                </a:solidFill>
                <a:latin typeface="Aptos"/>
              </a:rPr>
              <a:t> al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cierre</a:t>
            </a:r>
            <a:r>
              <a:rPr sz="1200" dirty="0">
                <a:solidFill>
                  <a:srgbClr val="E1EBF2"/>
                </a:solidFill>
                <a:latin typeface="Aptos"/>
              </a:rPr>
              <a:t> del </a:t>
            </a:r>
            <a:r>
              <a:rPr sz="1200" dirty="0" err="1">
                <a:solidFill>
                  <a:srgbClr val="E1EBF2"/>
                </a:solidFill>
                <a:latin typeface="Aptos"/>
              </a:rPr>
              <a:t>proyecto</a:t>
            </a:r>
            <a:r>
              <a:rPr sz="1200" dirty="0">
                <a:solidFill>
                  <a:srgbClr val="E1EBF2"/>
                </a:solidFill>
                <a:latin typeface="Aptos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6035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2C8FF"/>
                </a:solidFill>
                <a:latin typeface="Aptos"/>
              </a:rPr>
              <a:t>14 · CONCLUSIONES Y TRABAJO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804672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400" b="1" dirty="0" err="1">
                <a:solidFill>
                  <a:srgbClr val="FFFFFF"/>
                </a:solidFill>
                <a:latin typeface="Aptos"/>
              </a:rPr>
              <a:t>FabroGym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consolida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una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defensa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técnica</a:t>
            </a:r>
            <a:r>
              <a:rPr sz="2400" b="1" dirty="0">
                <a:solidFill>
                  <a:srgbClr val="FFFFFF"/>
                </a:solidFill>
                <a:latin typeface="Aptos"/>
              </a:rPr>
              <a:t> y </a:t>
            </a:r>
            <a:r>
              <a:rPr sz="2400" b="1" dirty="0" err="1">
                <a:solidFill>
                  <a:srgbClr val="FFFFFF"/>
                </a:solidFill>
                <a:latin typeface="Aptos"/>
              </a:rPr>
              <a:t>honesta</a:t>
            </a:r>
            <a:endParaRPr sz="2400" b="1" dirty="0">
              <a:solidFill>
                <a:srgbClr val="FFFFFF"/>
              </a:solidFill>
              <a:latin typeface="Aptos"/>
            </a:endParaRPr>
          </a:p>
          <a:p>
            <a:pPr>
              <a:spcBef>
                <a:spcPts val="600"/>
              </a:spcBef>
            </a:pPr>
            <a:r>
              <a:rPr sz="1400" dirty="0">
                <a:solidFill>
                  <a:srgbClr val="B4C4D0"/>
                </a:solidFill>
                <a:latin typeface="Aptos"/>
              </a:rPr>
              <a:t>La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propuesta</a:t>
            </a:r>
            <a:r>
              <a:rPr sz="1400" dirty="0">
                <a:solidFill>
                  <a:srgbClr val="B4C4D0"/>
                </a:solidFill>
                <a:latin typeface="Aptos"/>
              </a:rPr>
              <a:t> se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presenta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como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sistema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administrativo</a:t>
            </a:r>
            <a:r>
              <a:rPr sz="1400" dirty="0">
                <a:solidFill>
                  <a:srgbClr val="B4C4D0"/>
                </a:solidFill>
                <a:latin typeface="Aptos"/>
              </a:rPr>
              <a:t> con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prototipo</a:t>
            </a:r>
            <a:r>
              <a:rPr sz="1400" dirty="0">
                <a:solidFill>
                  <a:srgbClr val="B4C4D0"/>
                </a:solidFill>
                <a:latin typeface="Aptos"/>
              </a:rPr>
              <a:t> base y con un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estudio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empírico</a:t>
            </a:r>
            <a:r>
              <a:rPr sz="1400" dirty="0">
                <a:solidFill>
                  <a:srgbClr val="B4C4D0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orientado</a:t>
            </a:r>
            <a:r>
              <a:rPr sz="1400" dirty="0">
                <a:solidFill>
                  <a:srgbClr val="B4C4D0"/>
                </a:solidFill>
                <a:latin typeface="Aptos"/>
              </a:rPr>
              <a:t> a </a:t>
            </a:r>
            <a:r>
              <a:rPr sz="1400" dirty="0" err="1">
                <a:solidFill>
                  <a:srgbClr val="B4C4D0"/>
                </a:solidFill>
                <a:latin typeface="Aptos"/>
              </a:rPr>
              <a:t>explicabilidad</a:t>
            </a:r>
            <a:r>
              <a:rPr sz="1400" dirty="0">
                <a:solidFill>
                  <a:srgbClr val="B4C4D0"/>
                </a:solidFill>
                <a:latin typeface="Apto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73952"/>
            <a:ext cx="1188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Equipo · 1:40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9344"/>
            <a:ext cx="3566160" cy="27432"/>
          </a:xfrm>
          <a:prstGeom prst="rect">
            <a:avLst/>
          </a:prstGeom>
          <a:solidFill>
            <a:srgbClr val="32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657A388-E43D-46FA-D019-E28A9DBDBA21}"/>
              </a:ext>
            </a:extLst>
          </p:cNvPr>
          <p:cNvGrpSpPr/>
          <p:nvPr/>
        </p:nvGrpSpPr>
        <p:grpSpPr>
          <a:xfrm>
            <a:off x="722376" y="2234979"/>
            <a:ext cx="3429000" cy="1710267"/>
            <a:chOff x="777240" y="1828800"/>
            <a:chExt cx="3429000" cy="1710267"/>
          </a:xfrm>
        </p:grpSpPr>
        <p:sp>
          <p:nvSpPr>
            <p:cNvPr id="6" name="Rounded Rectangle 5"/>
            <p:cNvSpPr/>
            <p:nvPr/>
          </p:nvSpPr>
          <p:spPr>
            <a:xfrm>
              <a:off x="777240" y="1828800"/>
              <a:ext cx="3429000" cy="1710267"/>
            </a:xfrm>
            <a:prstGeom prst="roundRect">
              <a:avLst>
                <a:gd name="adj" fmla="val 2422"/>
              </a:avLst>
            </a:prstGeom>
            <a:solidFill>
              <a:srgbClr val="092D4A"/>
            </a:solidFill>
            <a:ln w="10160">
              <a:solidFill>
                <a:srgbClr val="2C5F8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777240" y="1828800"/>
              <a:ext cx="54864" cy="1710267"/>
            </a:xfrm>
            <a:prstGeom prst="rect">
              <a:avLst/>
            </a:prstGeom>
            <a:solidFill>
              <a:srgbClr val="32C8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86968" y="1901952"/>
              <a:ext cx="3264408" cy="13080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b="1" dirty="0" err="1">
                  <a:solidFill>
                    <a:srgbClr val="FFFFFF"/>
                  </a:solidFill>
                  <a:latin typeface="Aptos"/>
                </a:rPr>
                <a:t>Conclusión</a:t>
              </a:r>
              <a:r>
                <a:rPr b="1" dirty="0">
                  <a:solidFill>
                    <a:srgbClr val="FFFFFF"/>
                  </a:solidFill>
                  <a:latin typeface="Aptos"/>
                </a:rPr>
                <a:t> 1</a:t>
              </a:r>
            </a:p>
            <a:p>
              <a:pPr>
                <a:spcBef>
                  <a:spcPts val="600"/>
                </a:spcBef>
              </a:pPr>
              <a:r>
                <a:rPr sz="1400" dirty="0">
                  <a:solidFill>
                    <a:srgbClr val="E1EBF2"/>
                  </a:solidFill>
                  <a:latin typeface="Aptos"/>
                </a:rPr>
                <a:t>El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proyecto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transforma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necesidades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reales del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gimnasio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en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un ERS/SRS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trazable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,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priorizado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y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apoyado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por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evidencia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de campo.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8EF40F61-F147-7990-0124-358FB8ACCA70}"/>
              </a:ext>
            </a:extLst>
          </p:cNvPr>
          <p:cNvGrpSpPr/>
          <p:nvPr/>
        </p:nvGrpSpPr>
        <p:grpSpPr>
          <a:xfrm>
            <a:off x="4334256" y="2234979"/>
            <a:ext cx="3429000" cy="1710267"/>
            <a:chOff x="4389120" y="1828800"/>
            <a:chExt cx="3429000" cy="1710267"/>
          </a:xfrm>
        </p:grpSpPr>
        <p:sp>
          <p:nvSpPr>
            <p:cNvPr id="9" name="Rounded Rectangle 8"/>
            <p:cNvSpPr/>
            <p:nvPr/>
          </p:nvSpPr>
          <p:spPr>
            <a:xfrm>
              <a:off x="4389120" y="1828800"/>
              <a:ext cx="3429000" cy="1710267"/>
            </a:xfrm>
            <a:prstGeom prst="roundRect">
              <a:avLst>
                <a:gd name="adj" fmla="val 2778"/>
              </a:avLst>
            </a:prstGeom>
            <a:solidFill>
              <a:srgbClr val="092D4A"/>
            </a:solidFill>
            <a:ln w="10160">
              <a:solidFill>
                <a:srgbClr val="2C5F8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389120" y="1828800"/>
              <a:ext cx="54864" cy="1710267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498848" y="1901952"/>
              <a:ext cx="3264408" cy="13080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b="1" dirty="0" err="1">
                  <a:solidFill>
                    <a:srgbClr val="FFFFFF"/>
                  </a:solidFill>
                  <a:latin typeface="Aptos"/>
                </a:rPr>
                <a:t>Conclusión</a:t>
              </a:r>
              <a:r>
                <a:rPr b="1" dirty="0">
                  <a:solidFill>
                    <a:srgbClr val="FFFFFF"/>
                  </a:solidFill>
                  <a:latin typeface="Aptos"/>
                </a:rPr>
                <a:t> 2</a:t>
              </a:r>
            </a:p>
            <a:p>
              <a:pPr>
                <a:spcBef>
                  <a:spcPts val="600"/>
                </a:spcBef>
              </a:pPr>
              <a:r>
                <a:rPr sz="1400" dirty="0">
                  <a:solidFill>
                    <a:srgbClr val="E1EBF2"/>
                  </a:solidFill>
                  <a:latin typeface="Aptos"/>
                </a:rPr>
                <a:t>El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modelado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UML,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los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mockups y el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prototipo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base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permiten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explicar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los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procesos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críticos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sin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sobreprometer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una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implementación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productiva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.</a:t>
              </a:r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4C2AF687-2F43-377F-F6EC-729E2D16FDB3}"/>
              </a:ext>
            </a:extLst>
          </p:cNvPr>
          <p:cNvGrpSpPr/>
          <p:nvPr/>
        </p:nvGrpSpPr>
        <p:grpSpPr>
          <a:xfrm>
            <a:off x="7946136" y="2234979"/>
            <a:ext cx="3337560" cy="1710267"/>
            <a:chOff x="8001000" y="1828800"/>
            <a:chExt cx="3337560" cy="1710267"/>
          </a:xfrm>
        </p:grpSpPr>
        <p:sp>
          <p:nvSpPr>
            <p:cNvPr id="12" name="Rounded Rectangle 11"/>
            <p:cNvSpPr/>
            <p:nvPr/>
          </p:nvSpPr>
          <p:spPr>
            <a:xfrm>
              <a:off x="8001000" y="1828800"/>
              <a:ext cx="3337560" cy="1710267"/>
            </a:xfrm>
            <a:prstGeom prst="roundRect">
              <a:avLst>
                <a:gd name="adj" fmla="val 3846"/>
              </a:avLst>
            </a:prstGeom>
            <a:solidFill>
              <a:srgbClr val="092D4A"/>
            </a:solidFill>
            <a:ln w="10160">
              <a:solidFill>
                <a:srgbClr val="2C5F8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001000" y="1828800"/>
              <a:ext cx="54864" cy="1710267"/>
            </a:xfrm>
            <a:prstGeom prst="rect">
              <a:avLst/>
            </a:prstGeom>
            <a:solidFill>
              <a:srgbClr val="F5BF4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110728" y="1901952"/>
              <a:ext cx="3172968" cy="13080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b="1" dirty="0" err="1">
                  <a:solidFill>
                    <a:srgbClr val="FFFFFF"/>
                  </a:solidFill>
                  <a:latin typeface="Aptos"/>
                </a:rPr>
                <a:t>Trabajo</a:t>
              </a:r>
              <a:r>
                <a:rPr b="1" dirty="0">
                  <a:solidFill>
                    <a:srgbClr val="FFFFFF"/>
                  </a:solidFill>
                  <a:latin typeface="Aptos"/>
                </a:rPr>
                <a:t> </a:t>
              </a:r>
              <a:r>
                <a:rPr b="1" dirty="0" err="1">
                  <a:solidFill>
                    <a:srgbClr val="FFFFFF"/>
                  </a:solidFill>
                  <a:latin typeface="Aptos"/>
                </a:rPr>
                <a:t>futuro</a:t>
              </a:r>
              <a:endParaRPr b="1" dirty="0">
                <a:solidFill>
                  <a:srgbClr val="FFFFFF"/>
                </a:solidFill>
                <a:latin typeface="Aptos"/>
              </a:endParaRPr>
            </a:p>
            <a:p>
              <a:pPr>
                <a:spcBef>
                  <a:spcPts val="600"/>
                </a:spcBef>
              </a:pPr>
              <a:r>
                <a:rPr sz="1400" dirty="0">
                  <a:solidFill>
                    <a:srgbClr val="E1EBF2"/>
                  </a:solidFill>
                  <a:latin typeface="Aptos"/>
                </a:rPr>
                <a:t>El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cierre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metodológico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debe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fortalecer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la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validación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no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técnica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y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consolidar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los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RNF de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explicabilidad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del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recomendador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 de </a:t>
              </a:r>
              <a:r>
                <a:rPr sz="1400" dirty="0" err="1">
                  <a:solidFill>
                    <a:srgbClr val="E1EBF2"/>
                  </a:solidFill>
                  <a:latin typeface="Aptos"/>
                </a:rPr>
                <a:t>rutinas</a:t>
              </a:r>
              <a:r>
                <a:rPr sz="1400" dirty="0">
                  <a:solidFill>
                    <a:srgbClr val="E1EBF2"/>
                  </a:solidFill>
                  <a:latin typeface="Aptos"/>
                </a:rPr>
                <a:t>.</a:t>
              </a:r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777240" y="4754880"/>
            <a:ext cx="10561320" cy="777240"/>
          </a:xfrm>
          <a:prstGeom prst="roundRect">
            <a:avLst>
              <a:gd name="adj" fmla="val 9042"/>
            </a:avLst>
          </a:prstGeom>
          <a:solidFill>
            <a:srgbClr val="092D4A"/>
          </a:solidFill>
          <a:ln w="10160">
            <a:solidFill>
              <a:srgbClr val="2C5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754880"/>
            <a:ext cx="45720" cy="777240"/>
          </a:xfrm>
          <a:prstGeom prst="rect">
            <a:avLst/>
          </a:prstGeom>
          <a:solidFill>
            <a:srgbClr val="1272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4828032"/>
            <a:ext cx="10396728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FFFFFF"/>
                </a:solidFill>
                <a:latin typeface="Aptos"/>
              </a:rPr>
              <a:t>Cierre</a:t>
            </a:r>
          </a:p>
          <a:p>
            <a:pPr>
              <a:spcBef>
                <a:spcPts val="600"/>
              </a:spcBef>
            </a:pPr>
            <a:r>
              <a:rPr sz="1400" dirty="0" err="1">
                <a:solidFill>
                  <a:srgbClr val="E1EBF2"/>
                </a:solidFill>
                <a:latin typeface="Aptos"/>
              </a:rPr>
              <a:t>FabroGym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aporta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una</a:t>
            </a:r>
            <a:r>
              <a:rPr sz="1400" dirty="0">
                <a:solidFill>
                  <a:srgbClr val="E1EBF2"/>
                </a:solidFill>
                <a:latin typeface="Aptos"/>
              </a:rPr>
              <a:t> base de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requisitos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defendible</a:t>
            </a:r>
            <a:r>
              <a:rPr sz="1400" dirty="0">
                <a:solidFill>
                  <a:srgbClr val="E1EBF2"/>
                </a:solidFill>
                <a:latin typeface="Aptos"/>
              </a:rPr>
              <a:t>,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clara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en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su</a:t>
            </a:r>
            <a:r>
              <a:rPr sz="1400" dirty="0">
                <a:solidFill>
                  <a:srgbClr val="E1EBF2"/>
                </a:solidFill>
                <a:latin typeface="Aptos"/>
              </a:rPr>
              <a:t>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alcance</a:t>
            </a:r>
            <a:r>
              <a:rPr sz="1400" dirty="0">
                <a:solidFill>
                  <a:srgbClr val="E1EBF2"/>
                </a:solidFill>
                <a:latin typeface="Aptos"/>
              </a:rPr>
              <a:t> y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consistente</a:t>
            </a:r>
            <a:r>
              <a:rPr sz="1400" dirty="0">
                <a:solidFill>
                  <a:srgbClr val="E1EBF2"/>
                </a:solidFill>
                <a:latin typeface="Aptos"/>
              </a:rPr>
              <a:t> con el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Enfoque</a:t>
            </a:r>
            <a:r>
              <a:rPr sz="1400" dirty="0">
                <a:solidFill>
                  <a:srgbClr val="E1EBF2"/>
                </a:solidFill>
                <a:latin typeface="Aptos"/>
              </a:rPr>
              <a:t> 3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asignado</a:t>
            </a:r>
            <a:r>
              <a:rPr sz="1400" dirty="0">
                <a:solidFill>
                  <a:srgbClr val="E1EBF2"/>
                </a:solidFill>
                <a:latin typeface="Aptos"/>
              </a:rPr>
              <a:t> al </a:t>
            </a:r>
            <a:r>
              <a:rPr sz="1400" dirty="0" err="1">
                <a:solidFill>
                  <a:srgbClr val="E1EBF2"/>
                </a:solidFill>
                <a:latin typeface="Aptos"/>
              </a:rPr>
              <a:t>proyecto</a:t>
            </a:r>
            <a:r>
              <a:rPr sz="1400" dirty="0">
                <a:solidFill>
                  <a:srgbClr val="E1EBF2"/>
                </a:solidFill>
                <a:latin typeface="Apto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457200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dirty="0">
                <a:solidFill>
                  <a:srgbClr val="FFFFFF"/>
                </a:solidFill>
                <a:latin typeface="Aptos"/>
              </a:rPr>
              <a:t>Gracias</a:t>
            </a:r>
            <a:endParaRPr sz="14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64465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4C4D0"/>
                </a:solidFill>
                <a:latin typeface="Aptos"/>
              </a:rPr>
              <a:t>INGENIERÍA DE REQUERIMIENTOS · FABROGYM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2823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4C4D0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1489</Words>
  <Application>Microsoft Office PowerPoint</Application>
  <PresentationFormat>Panorámica</PresentationFormat>
  <Paragraphs>272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Alex Mora</dc:creator>
  <cp:keywords/>
  <dc:description>generated using python-pptx</dc:description>
  <cp:lastModifiedBy>MORA DUARTE  ALEX JOSE</cp:lastModifiedBy>
  <cp:revision>3</cp:revision>
  <dcterms:created xsi:type="dcterms:W3CDTF">2013-01-27T09:14:16Z</dcterms:created>
  <dcterms:modified xsi:type="dcterms:W3CDTF">2026-08-24T14:07:46Z</dcterms:modified>
  <cp:category/>
</cp:coreProperties>
</file>