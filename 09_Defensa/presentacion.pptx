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Presentarse, mencionar que el objetivo es defender FabroGym como cierre técnico, empírico y publicable de Entrega 4 2B. No prometer nota; prometer trazabilidad y evidencia.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el problema con lenguaje simple: pagos, membresías, inventario y rutinas estaban dispersos; el sistema organiza y deja trazas.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Leer RQ1/RQ2 y remarcar que el recomendador es propuesto; el foco de investigación son los requisitos de explicabilidad.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actores y límites del sistema. Evitar decir que hay IA funcional en producción.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Decir que se corrigieron IDs duplicados y que la matriz tiene 97 trazas cerradas.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datos: 10 entrevistas, 6 walkthroughs, encuesta n=70 y member checking con tres participantes.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resultados: fragmentos, códigos, categorías, privacidad y perfiles. Recalcar scripts.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Responder RQ1: usuarios quieren saber qué, por qué, cómo y cuándo se actualiza la recomendación.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Responder RQ2: member checking validó con ajustes; 4 RNF finales.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honestidad: saturación por código 6.306 %, no cumple estricto; axial 1.852 % complementario.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cobertura MVP y que la demo usa dos escenarios trazables con datos sintéticos.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Aclarar Zenodo: se publica al final con DOI; no contiene datos identificables.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Defender amenazas a la validez: limitaciones reconocidas y mitigadas.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de aportes y futuro: implementación real del componente de recomendación y nueva validación.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Hacer demo 1 sin exceder 45 segundos. Si falla el sistema, mostrar evidencia en pantalla o capturas locales.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Hacer demo 2 y cerrar invitando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9418320" y="6647688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Diap. 1/16 · 00:00-01:00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6858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FabroGym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85800" y="14813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D6A838"/>
                </a:solidFill>
              </a:rPr>
              <a:t>Explicabilidad como requisito no funcional en un sistema de gestión de gimnasio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58368" y="2267712"/>
            <a:ext cx="5394960" cy="18288"/>
          </a:xfrm>
          <a:prstGeom prst="rect">
            <a:avLst/>
          </a:prstGeom>
          <a:solidFill>
            <a:srgbClr val="D6A838"/>
          </a:solidFill>
          <a:ln w="12700">
            <a:solidFill>
              <a:srgbClr val="D6A8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48716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Defensa Final · Entrega 4 (2B) · Ingeniería de Requerimientos ISR-401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9992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7EFEA"/>
                </a:solidFill>
              </a:rPr>
              <a:t>Universidad Técnica Estatal de Quevedo · Equipo FabroGym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995160" y="86868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A838"/>
                </a:solidFill>
              </a:rPr>
              <a:t>25 min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995160" y="130759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presentación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41080" y="86868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A838"/>
                </a:solidFill>
              </a:rPr>
              <a:t>10 min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641080" y="130759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preguntas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195560" y="8686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A838"/>
                </a:solidFill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195560" y="1307592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escenarios demo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720840" y="3154680"/>
            <a:ext cx="1783080" cy="914400"/>
          </a:xfrm>
          <a:prstGeom prst="roundRect">
            <a:avLst>
              <a:gd name="adj" fmla="val 10000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3264408"/>
            <a:ext cx="160020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Problema real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 evidencia de campo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22208" y="3611880"/>
            <a:ext cx="45720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006840" y="3154680"/>
            <a:ext cx="1325880" cy="914400"/>
          </a:xfrm>
          <a:prstGeom prst="roundRect">
            <a:avLst>
              <a:gd name="adj" fmla="val 10000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98280" y="3264408"/>
            <a:ext cx="114300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Requisitos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trazables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360152" y="3611880"/>
            <a:ext cx="393192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789920" y="3154680"/>
            <a:ext cx="960120" cy="914400"/>
          </a:xfrm>
          <a:prstGeom prst="roundRect">
            <a:avLst>
              <a:gd name="adj" fmla="val 10000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881360" y="3264408"/>
            <a:ext cx="7772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MVP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y defensa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5897880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FEA"/>
                </a:solidFill>
              </a:rPr>
              <a:t>Nombres del equipo: Alvia, Mera, Mora, Ponce y Vaca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9418320" y="6647688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Diap. 2/16 · 01:00-03:00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del dominio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47067"/>
                </a:solidFill>
              </a:rPr>
              <a:t>El gimnasio opera con registros dispersos, poca trazabilidad y consultas manuales.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38528"/>
            <a:ext cx="173736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Notas / WhatsApp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para membresías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82880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1938528"/>
            <a:ext cx="19202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Pagos e inventario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sin control integrado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852160" y="182880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0" y="1938528"/>
            <a:ext cx="201168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Rutinas y seguimiento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 baja explicación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0" y="182880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B2322E">
              <a:alpha val="93000"/>
            </a:srgbClr>
          </a:solidFill>
          <a:ln w="12700">
            <a:solidFill>
              <a:srgbClr val="B2322E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0" y="1938528"/>
            <a:ext cx="164592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Decisiones sin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traza completa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697480" y="2286000"/>
            <a:ext cx="45720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358384" y="2286000"/>
            <a:ext cx="448056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092440" y="2286000"/>
            <a:ext cx="54864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731520" y="36576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31B"/>
                </a:solidFill>
              </a:rPr>
              <a:t>Necesidad central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49808" y="4096512"/>
            <a:ext cx="649224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00" dirty="0">
                <a:solidFill>
                  <a:srgbClr val="1B1E1C"/>
                </a:solidFill>
              </a:rPr>
              <a:t>Unificar clientes, membresías, pagos, asistencia, inventario, caja y rutinas.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Mantener privacidad por defecto y trazabilidad verificable.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Especificar explicaciones mínimas para recomendaciones de rutinas sin afirmar IA implementada.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818120" y="3749040"/>
            <a:ext cx="3383280" cy="1325880"/>
          </a:xfrm>
          <a:prstGeom prst="roundRect">
            <a:avLst>
              <a:gd name="adj" fmla="val 7586"/>
            </a:avLst>
          </a:prstGeom>
          <a:solidFill>
            <a:srgbClr val="E9F5EE"/>
          </a:solidFill>
          <a:ln w="12700">
            <a:solidFill>
              <a:srgbClr val="C7D7C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92440" y="39502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D3B"/>
                </a:solidFill>
              </a:rPr>
              <a:t>Contribución defendible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92440" y="4370832"/>
            <a:ext cx="274320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1E1C"/>
                </a:solidFill>
              </a:rPr>
              <a:t>De evidencia de campo a RNF verificables, con dataset reproducible y prototipo 16/19 RF Must.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9418320" y="6647688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Diap. 3/16 · 03:00-04:30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de investigación y aportes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47067"/>
                </a:solidFill>
              </a:rPr>
              <a:t>La defensa se centra en explicabilidad como RNF, no en prometer IA ya implementada.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1737360"/>
            <a:ext cx="3017520" cy="960120"/>
          </a:xfrm>
          <a:prstGeom prst="roundRect">
            <a:avLst>
              <a:gd name="adj" fmla="val 9524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847088"/>
            <a:ext cx="283464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RQ1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¿Qué necesidades de explicación emergen?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26280" y="1737360"/>
            <a:ext cx="3017520" cy="960120"/>
          </a:xfrm>
          <a:prstGeom prst="roundRect">
            <a:avLst>
              <a:gd name="adj" fmla="val 9524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847088"/>
            <a:ext cx="283464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RQ2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¿Cómo se validan con miembros?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0" y="173736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847088"/>
            <a:ext cx="237744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Resultado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 RNF-EXP terminales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822192" y="2212848"/>
            <a:ext cx="658368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562088" y="2212848"/>
            <a:ext cx="621792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822960" y="3246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31B"/>
                </a:solidFill>
              </a:rPr>
              <a:t>Aportes principales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1248" y="3703320"/>
            <a:ext cx="475488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00" dirty="0">
                <a:solidFill>
                  <a:srgbClr val="1B1E1C"/>
                </a:solidFill>
              </a:rPr>
              <a:t>Catálogo terminal de requisitos con IDs únicos.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Matriz de trazabilidad con 97 enlaces cerrados.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Análisis reproducible con datos reales.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Manuscrito Springer y paquete FAIR pre-Zenodo.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31B"/>
                </a:solidFill>
              </a:rPr>
              <a:t>Criterio de integridad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19088" y="3703320"/>
            <a:ext cx="484632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00" dirty="0">
                <a:solidFill>
                  <a:srgbClr val="1B1E1C"/>
                </a:solidFill>
              </a:rPr>
              <a:t>No se inventan DOI, SWHID, firmas, videos ni resultados.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Member checking documentado; sin audio/video se declara como riesgo.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Saturación por códigos no se maquilla: 6.306 %.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9418320" y="6647688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Diap. 4/16 · 04:30-06:00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 y stakeholders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47067"/>
                </a:solidFill>
              </a:rPr>
              <a:t>Alcance operativo del prototipo FabroGym 2B.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1828800"/>
            <a:ext cx="1920240" cy="777240"/>
          </a:xfrm>
          <a:prstGeom prst="roundRect">
            <a:avLst>
              <a:gd name="adj" fmla="val 11765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938528"/>
            <a:ext cx="17373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Administrador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planes, caja, inventario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971800"/>
            <a:ext cx="1920240" cy="777240"/>
          </a:xfrm>
          <a:prstGeom prst="roundRect">
            <a:avLst>
              <a:gd name="adj" fmla="val 11765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081528"/>
            <a:ext cx="17373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Recepción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clientes, pagos, asistencia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4114800"/>
            <a:ext cx="1920240" cy="777240"/>
          </a:xfrm>
          <a:prstGeom prst="roundRect">
            <a:avLst>
              <a:gd name="adj" fmla="val 11765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224528"/>
            <a:ext cx="17373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Instructor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rutinas y seguimiento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0" y="2011680"/>
            <a:ext cx="3840480" cy="2377440"/>
          </a:xfrm>
          <a:prstGeom prst="roundRect">
            <a:avLst>
              <a:gd name="adj" fmla="val 3846"/>
            </a:avLst>
          </a:prstGeom>
          <a:solidFill>
            <a:srgbClr val="10231B">
              <a:alpha val="93000"/>
            </a:srgbClr>
          </a:solidFill>
          <a:ln w="12700">
            <a:solidFill>
              <a:srgbClr val="10231B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0" y="2121408"/>
            <a:ext cx="3657600" cy="2194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FabroGym MVP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clientes · membresías · pagos · asistencia · inventario · ventas · caja · rutinas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03920" y="1920240"/>
            <a:ext cx="1920240" cy="777240"/>
          </a:xfrm>
          <a:prstGeom prst="roundRect">
            <a:avLst>
              <a:gd name="adj" fmla="val 11765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2029968"/>
            <a:ext cx="17373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Cliente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consulta y vigencia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503920" y="3063240"/>
            <a:ext cx="1920240" cy="777240"/>
          </a:xfrm>
          <a:prstGeom prst="roundRect">
            <a:avLst>
              <a:gd name="adj" fmla="val 11765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0" y="3172968"/>
            <a:ext cx="17373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Equipo PFC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análisis y publicación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03920" y="4206240"/>
            <a:ext cx="1920240" cy="777240"/>
          </a:xfrm>
          <a:prstGeom prst="roundRect">
            <a:avLst>
              <a:gd name="adj" fmla="val 11765"/>
            </a:avLst>
          </a:prstGeom>
          <a:solidFill>
            <a:srgbClr val="B2322E">
              <a:alpha val="93000"/>
            </a:srgbClr>
          </a:solidFill>
          <a:ln w="12700">
            <a:solidFill>
              <a:srgbClr val="B2322E">
                <a:alpha val="9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0" y="4315968"/>
            <a:ext cx="17373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Docente / tribunal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verificación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2212848"/>
            <a:ext cx="822960" cy="347472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788920" y="3364992"/>
            <a:ext cx="822960" cy="-164592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788920" y="4480560"/>
            <a:ext cx="822960" cy="-64008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543800" y="2743200"/>
            <a:ext cx="914400" cy="-45720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543800" y="3200400"/>
            <a:ext cx="914400" cy="27432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543800" y="3749040"/>
            <a:ext cx="914400" cy="82296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9418320" y="6647688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Diap. 5/16 · 06:00-08:00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 requisitos y trazabilidad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47067"/>
                </a:solidFill>
              </a:rPr>
              <a:t>La historia defendible es evidencia -&gt; requisito -&gt; prueba -&gt; mockup/MVP.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5544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5D3B"/>
                </a:solidFill>
              </a:rPr>
              <a:t>48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85800" y="199339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requisitos terminales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240280" y="1554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5C7D"/>
                </a:solidFill>
              </a:rPr>
              <a:t>25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240280" y="199339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RF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20440" y="15544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A838"/>
                </a:solidFill>
              </a:rPr>
              <a:t>19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20440" y="199339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RF Must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937760" y="15544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5D3B"/>
                </a:solidFill>
              </a:rPr>
              <a:t>97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937760" y="199339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trazas cerradas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37960" y="15544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2322E"/>
                </a:solidFill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537960" y="199339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RNF-EXP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68680" y="3337560"/>
            <a:ext cx="1691640" cy="777240"/>
          </a:xfrm>
          <a:prstGeom prst="roundRect">
            <a:avLst>
              <a:gd name="adj" fmla="val 11765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3447288"/>
            <a:ext cx="15087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Evidencia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ENTR/WALK/encuesta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578608" y="3730752"/>
            <a:ext cx="484632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108960" y="3337560"/>
            <a:ext cx="1417320" cy="777240"/>
          </a:xfrm>
          <a:prstGeom prst="roundRect">
            <a:avLst>
              <a:gd name="adj" fmla="val 11765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3447288"/>
            <a:ext cx="123444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Requisito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RF/RNF/RD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53712" y="3730752"/>
            <a:ext cx="475488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074920" y="3337560"/>
            <a:ext cx="1417320" cy="777240"/>
          </a:xfrm>
          <a:prstGeom prst="roundRect">
            <a:avLst>
              <a:gd name="adj" fmla="val 11765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66360" y="3447288"/>
            <a:ext cx="123444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CA/CU/HU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verificación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19672" y="3730752"/>
            <a:ext cx="475488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040880" y="3337560"/>
            <a:ext cx="1600200" cy="777240"/>
          </a:xfrm>
          <a:prstGeom prst="roundRect">
            <a:avLst>
              <a:gd name="adj" fmla="val 11765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0" y="3447288"/>
            <a:ext cx="141732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Mockup/MVP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prueba demo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668512" y="3730752"/>
            <a:ext cx="475488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189720" y="3337560"/>
            <a:ext cx="1508760" cy="777240"/>
          </a:xfrm>
          <a:prstGeom prst="roundRect">
            <a:avLst>
              <a:gd name="adj" fmla="val 11765"/>
            </a:avLst>
          </a:prstGeom>
          <a:solidFill>
            <a:srgbClr val="10231B">
              <a:alpha val="93000"/>
            </a:srgbClr>
          </a:solidFill>
          <a:ln w="12700">
            <a:solidFill>
              <a:srgbClr val="10231B">
                <a:alpha val="9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0" y="3447288"/>
            <a:ext cx="132588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ERS + paper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trazables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68680" y="4754880"/>
            <a:ext cx="97840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400" dirty="0">
                <a:solidFill>
                  <a:srgbClr val="1B1E1C"/>
                </a:solidFill>
              </a:rPr>
              <a:t>Se corrigieron duplicados de IDs históricos.</a:t>
            </a:r>
            <a:endParaRPr lang="en-US" sz="1400" dirty="0"/>
          </a:p>
          <a:p>
            <a:r>
              <a:rPr lang="en-US" sz="1400" dirty="0">
                <a:solidFill>
                  <a:srgbClr val="1B1E1C"/>
                </a:solidFill>
              </a:rPr>
              <a:t>Los RNF de explicabilidad se agregan solo desde la cadena real de member checking.</a:t>
            </a:r>
            <a:endParaRPr lang="en-US" sz="1400" dirty="0"/>
          </a:p>
          <a:p>
            <a:r>
              <a:rPr lang="en-US" sz="1400" dirty="0">
                <a:solidFill>
                  <a:srgbClr val="1B1E1C"/>
                </a:solidFill>
              </a:rPr>
              <a:t>La matriz supera el mínimo de 60 filas cerradas.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9418320" y="6647688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Diap. 6/16 · 08:00-10:00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Diseño metodológico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47067"/>
                </a:solidFill>
              </a:rPr>
              <a:t>Estudio de caso de campo con análisis cualitativo/descriptivo reproducible.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55448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5D3B"/>
                </a:solidFill>
              </a:rPr>
              <a:t>10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85800" y="199339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ENTR iniciales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57400" y="155448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5C7D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057400" y="199339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WALK técnicos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429000" y="15544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A838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29000" y="199339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WALK no técnicos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983480" y="1554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5D3B"/>
                </a:solidFill>
              </a:rPr>
              <a:t>70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983480" y="1993392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respuestas encuesta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83680" y="15544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2322E"/>
                </a:solidFill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583680" y="199339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MC-P01..03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4400" y="3246120"/>
            <a:ext cx="1828800" cy="777240"/>
          </a:xfrm>
          <a:prstGeom prst="roundRect">
            <a:avLst>
              <a:gd name="adj" fmla="val 11765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355848"/>
            <a:ext cx="164592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Datos crudos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publicables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88920" y="3639312"/>
            <a:ext cx="54864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383280" y="3246120"/>
            <a:ext cx="1828800" cy="777240"/>
          </a:xfrm>
          <a:prstGeom prst="roundRect">
            <a:avLst>
              <a:gd name="adj" fmla="val 11765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3355848"/>
            <a:ext cx="164592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Codificación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76 fragmentos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57800" y="3639312"/>
            <a:ext cx="54864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852160" y="3246120"/>
            <a:ext cx="1828800" cy="777240"/>
          </a:xfrm>
          <a:prstGeom prst="roundRect">
            <a:avLst>
              <a:gd name="adj" fmla="val 11765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3355848"/>
            <a:ext cx="164592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Candidatos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RNF-EXP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726680" y="3639312"/>
            <a:ext cx="54864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321040" y="3246120"/>
            <a:ext cx="1828800" cy="777240"/>
          </a:xfrm>
          <a:prstGeom prst="roundRect">
            <a:avLst>
              <a:gd name="adj" fmla="val 11765"/>
            </a:avLst>
          </a:prstGeom>
          <a:solidFill>
            <a:srgbClr val="B2322E">
              <a:alpha val="93000"/>
            </a:srgbClr>
          </a:solidFill>
          <a:ln w="12700">
            <a:solidFill>
              <a:srgbClr val="B2322E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0" y="3355848"/>
            <a:ext cx="164592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Member checking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 decisiones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14400" y="4663440"/>
            <a:ext cx="914400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400" dirty="0">
                <a:solidFill>
                  <a:srgbClr val="1B1E1C"/>
                </a:solidFill>
              </a:rPr>
              <a:t>La encuesta se usa como evidencia descriptiva; no se transforma en Likert de explicabilidad.</a:t>
            </a:r>
            <a:endParaRPr lang="en-US" sz="1400" dirty="0"/>
          </a:p>
          <a:p>
            <a:r>
              <a:rPr lang="en-US" sz="1400" dirty="0">
                <a:solidFill>
                  <a:srgbClr val="1B1E1C"/>
                </a:solidFill>
              </a:rPr>
              <a:t>La comparación técnico/no técnico se reporta como cualitativa/descriptiva.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9418320" y="6647688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Diap. 7/16 · 10:00-12:00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Resultados empíricos principales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47067"/>
                </a:solidFill>
              </a:rPr>
              <a:t>Cifras que salen de scripts, no de conteo manual.</a:t>
            </a:r>
            <a:endParaRPr lang="en-US" sz="1200" dirty="0"/>
          </a:p>
        </p:txBody>
      </p:sp>
      <p:pic>
        <p:nvPicPr>
          <p:cNvPr id="8" name="Image 0" descr="/mnt/data/FabroGym_FASE4_2B/07_Publicacion/figuras/fig06_perfiles_walkthroug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56295"/>
            <a:ext cx="3383280" cy="2345209"/>
          </a:xfrm>
          <a:prstGeom prst="rect">
            <a:avLst/>
          </a:prstGeom>
        </p:spPr>
      </p:pic>
      <p:pic>
        <p:nvPicPr>
          <p:cNvPr id="9" name="Image 1" descr="/mnt/data/FabroGym_FASE4_2B/07_Publicacion/figuras/fig05_dimensiones_explicabilid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524937"/>
            <a:ext cx="3383280" cy="2207925"/>
          </a:xfrm>
          <a:prstGeom prst="rect">
            <a:avLst/>
          </a:prstGeom>
        </p:spPr>
      </p:pic>
      <p:pic>
        <p:nvPicPr>
          <p:cNvPr id="10" name="Image 2" descr="/mnt/data/FabroGym_FASE4_2B/07_Publicacion/figuras/fig04_privacidad_encues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71625"/>
            <a:ext cx="3383280" cy="211455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960" y="425196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5D3B"/>
                </a:solidFill>
              </a:rPr>
              <a:t>76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822960" y="46908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fragmentos WALK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233172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5C7D"/>
                </a:solidFill>
              </a:rPr>
              <a:t>37</a:t>
            </a:r>
            <a:endParaRPr lang="en-US" sz="2400" dirty="0"/>
          </a:p>
        </p:txBody>
      </p:sp>
      <p:sp>
        <p:nvSpPr>
          <p:cNvPr id="14" name="Text 9"/>
          <p:cNvSpPr/>
          <p:nvPr/>
        </p:nvSpPr>
        <p:spPr>
          <a:xfrm>
            <a:off x="2331720" y="469087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códigos normalizados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4023360" y="42519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A838"/>
                </a:solidFill>
              </a:rPr>
              <a:t>18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4023360" y="469087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categorías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5532120" y="4251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5D3B"/>
                </a:solidFill>
              </a:rPr>
              <a:t>9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5532120" y="469087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fragmentos de explicabilidad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7498080" y="42519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2322E"/>
                </a:solidFill>
              </a:rPr>
              <a:t>4</a:t>
            </a:r>
            <a:endParaRPr lang="en-US" sz="2400" dirty="0"/>
          </a:p>
        </p:txBody>
      </p:sp>
      <p:sp>
        <p:nvSpPr>
          <p:cNvPr id="20" name="Text 15"/>
          <p:cNvSpPr/>
          <p:nvPr/>
        </p:nvSpPr>
        <p:spPr>
          <a:xfrm>
            <a:off x="7498080" y="4690872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RNF-EXP finales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9418320" y="6647688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Diap. 8/16 · 12:00-14:00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RQ1 - Necesidades de explicabilidad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47067"/>
                </a:solidFill>
              </a:rPr>
              <a:t>Qué necesita entender el usuario sobre una recomendación de rutina.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1600200"/>
            <a:ext cx="2286000" cy="822960"/>
          </a:xfrm>
          <a:prstGeom prst="roundRect">
            <a:avLst>
              <a:gd name="adj" fmla="val 11111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709928"/>
            <a:ext cx="210312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Qué se recomienda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ejercicios y parámetros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66160" y="160020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1709928"/>
            <a:ext cx="19202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Por qué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objetivo y criterio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600200"/>
            <a:ext cx="2194560" cy="822960"/>
          </a:xfrm>
          <a:prstGeom prst="roundRect">
            <a:avLst>
              <a:gd name="adj" fmla="val 11111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63640" y="1709928"/>
            <a:ext cx="201168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Cómo usarla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series, reps, descanso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869680" y="1600200"/>
            <a:ext cx="2194560" cy="822960"/>
          </a:xfrm>
          <a:prstGeom prst="roundRect">
            <a:avLst>
              <a:gd name="adj" fmla="val 11111"/>
            </a:avLst>
          </a:prstGeom>
          <a:solidFill>
            <a:srgbClr val="B2322E">
              <a:alpha val="93000"/>
            </a:srgbClr>
          </a:solidFill>
          <a:ln w="12700">
            <a:solidFill>
              <a:srgbClr val="B2322E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0" y="1709928"/>
            <a:ext cx="201168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Cuándo revisar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seguimiento y cambios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3154680"/>
            <a:ext cx="54864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00" dirty="0">
                <a:solidFill>
                  <a:srgbClr val="1B1E1C"/>
                </a:solidFill>
              </a:rPr>
              <a:t>La explicación no se limita a mostrar texto adicional: debe ser útil para recepción/instructor/cliente.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Los RNF-EXP terminales piden motivo, detalle operativo, límites y trazabilidad de cambios.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El sistema no presenta un recomendador IA como funcional; lo deja especificado/propuesto.</a:t>
            </a:r>
            <a:endParaRPr lang="en-US" sz="1500" dirty="0"/>
          </a:p>
        </p:txBody>
      </p:sp>
      <p:pic>
        <p:nvPicPr>
          <p:cNvPr id="17" name="Image 0" descr="/mnt/data/FabroGym_FASE4_2B/07_Publicacion/figuras/fig05_dimensiones_explicabilid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37473" y="2926080"/>
            <a:ext cx="3572975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9418320" y="6647688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Diap. 9/16 · 14:00-16:00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RQ2 - Validación por member checking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47067"/>
                </a:solidFill>
              </a:rPr>
              <a:t>Los candidatos no se aceptaron ciegamente: fueron ajustados.</a:t>
            </a:r>
            <a:endParaRPr lang="en-US" sz="1200" dirty="0"/>
          </a:p>
        </p:txBody>
      </p:sp>
      <p:pic>
        <p:nvPicPr>
          <p:cNvPr id="8" name="Image 0" descr="/mnt/data/FabroGym_FASE4_2B/07_Publicacion/figuras/fig03_member_chec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5494"/>
            <a:ext cx="4206240" cy="270401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0" y="16459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5D3B"/>
                </a:solidFill>
              </a:rPr>
              <a:t>12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486400" y="208483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decisiones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903720" y="16459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5C7D"/>
                </a:solidFill>
              </a:rPr>
              <a:t>4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6903720" y="20848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confirmado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275320" y="164592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A838"/>
                </a:solidFill>
              </a:rPr>
              <a:t>8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275320" y="208483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ajustado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9601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2322E"/>
                </a:solidFill>
              </a:rPr>
              <a:t>0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9601200" y="20848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rechazado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577840" y="3246120"/>
            <a:ext cx="1508760" cy="685800"/>
          </a:xfrm>
          <a:prstGeom prst="roundRect">
            <a:avLst>
              <a:gd name="adj" fmla="val 13333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0" y="3355848"/>
            <a:ext cx="13258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RNF-EXP-01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Motivo de rutina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269480" y="3246120"/>
            <a:ext cx="1508760" cy="685800"/>
          </a:xfrm>
          <a:prstGeom prst="roundRect">
            <a:avLst>
              <a:gd name="adj" fmla="val 13333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60920" y="3355848"/>
            <a:ext cx="13258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RNF-EXP-02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Detalle operativo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961120" y="3246120"/>
            <a:ext cx="1508760" cy="685800"/>
          </a:xfrm>
          <a:prstGeom prst="roundRect">
            <a:avLst>
              <a:gd name="adj" fmla="val 13333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052560" y="3355848"/>
            <a:ext cx="13258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RNF-EXP-03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Límites y advertencias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309360" y="42976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B2322E">
              <a:alpha val="93000"/>
            </a:srgbClr>
          </a:solidFill>
          <a:ln w="12700">
            <a:solidFill>
              <a:srgbClr val="B2322E">
                <a:alpha val="9000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4407408"/>
            <a:ext cx="32004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RNF-EXP-04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Historial de cambios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9418320" y="6647688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Diap. 10/16 · 16:00-18:00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Saturación y transparencia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47067"/>
                </a:solidFill>
              </a:rPr>
              <a:t>La defensa no debe vender como cumplido lo que matemáticamente no cumple.</a:t>
            </a:r>
            <a:endParaRPr lang="en-US" sz="1200" dirty="0"/>
          </a:p>
        </p:txBody>
      </p:sp>
      <p:pic>
        <p:nvPicPr>
          <p:cNvPr id="8" name="Image 0" descr="/mnt/data/FabroGym_FASE4_2B/07_Publicacion/figuras/fig01_saturacion_codig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39240"/>
            <a:ext cx="5074920" cy="2819400"/>
          </a:xfrm>
          <a:prstGeom prst="rect">
            <a:avLst/>
          </a:prstGeom>
        </p:spPr>
      </p:pic>
      <p:pic>
        <p:nvPicPr>
          <p:cNvPr id="9" name="Image 1" descr="/mnt/data/FabroGym_FASE4_2B/07_Publicacion/figuras/fig02_estabilizacion_ax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39240"/>
            <a:ext cx="5074920" cy="2819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14400" y="4892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2322E"/>
                </a:solidFill>
              </a:rPr>
              <a:t>6.306 %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914400" y="53309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códigos últimas 3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3337560" y="4892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5D3B"/>
                </a:solidFill>
              </a:rPr>
              <a:t>1.852 %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3337560" y="53309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categorías axiales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583680" y="4892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5C7D"/>
                </a:solidFill>
              </a:rPr>
              <a:t>Power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6583680" y="53309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cálculo documentado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9144000" y="4892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A838"/>
                </a:solidFill>
              </a:rPr>
              <a:t>Sin p-hacking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9144000" y="53309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no pruebas inventadas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9418320" y="6647688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Diap. 11/16 · 18:00-19:30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MVP validado y alcance de la demo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47067"/>
                </a:solidFill>
              </a:rPr>
              <a:t>El prototipo apunta a 16/19 RF Must = 84.2 %.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6459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5D3B"/>
                </a:solidFill>
              </a:rPr>
              <a:t>16/19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20848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RF Must cubiertos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788920" y="1645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A838"/>
                </a:solidFill>
              </a:rPr>
              <a:t>84.2 %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788920" y="20848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cobertura objetivo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0" y="16459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5C7D"/>
                </a:solidFill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08483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escenarios demo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2834640"/>
            <a:ext cx="502920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00" dirty="0">
                <a:solidFill>
                  <a:srgbClr val="1B1E1C"/>
                </a:solidFill>
              </a:rPr>
              <a:t>Escenario 1: registrar/consultar cliente, pago, membresía y asistencia.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Escenario 2: inventario, venta y cierre operativo con trazabilidad.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Usar solo datos sintéticos y credenciales demo; nunca credenciales reales.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583680" y="182880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0" y="1938528"/>
            <a:ext cx="164592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Demo 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Recepción + membresía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0" y="182880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1938528"/>
            <a:ext cx="164592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Demo 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Inventario + caja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39912" y="2240280"/>
            <a:ext cx="658368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400800" y="3703320"/>
            <a:ext cx="1188720" cy="594360"/>
          </a:xfrm>
          <a:prstGeom prst="roundRect">
            <a:avLst>
              <a:gd name="adj" fmla="val 15385"/>
            </a:avLst>
          </a:prstGeom>
          <a:solidFill>
            <a:srgbClr val="10231B">
              <a:alpha val="93000"/>
            </a:srgbClr>
          </a:solidFill>
          <a:ln w="12700">
            <a:solidFill>
              <a:srgbClr val="10231B">
                <a:alpha val="9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813048"/>
            <a:ext cx="100584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Evidencia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35240" y="3995928"/>
            <a:ext cx="54864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229600" y="3703320"/>
            <a:ext cx="1188720" cy="594360"/>
          </a:xfrm>
          <a:prstGeom prst="roundRect">
            <a:avLst>
              <a:gd name="adj" fmla="val 15385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21040" y="3813048"/>
            <a:ext cx="100584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RF Must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464040" y="3995928"/>
            <a:ext cx="54864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058400" y="3703320"/>
            <a:ext cx="1188720" cy="594360"/>
          </a:xfrm>
          <a:prstGeom prst="roundRect">
            <a:avLst>
              <a:gd name="adj" fmla="val 15385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149840" y="3813048"/>
            <a:ext cx="100584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Pantalla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9418320" y="6647688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Diap. 12/16 · 19:30-21:00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Ciencia abierta y paquete FAIR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47067"/>
                </a:solidFill>
              </a:rPr>
              <a:t>Qué queda preparado antes de publicar Zenodo.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17373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10231B">
              <a:alpha val="93000"/>
            </a:srgbClr>
          </a:solidFill>
          <a:ln w="12700">
            <a:solidFill>
              <a:srgbClr val="10231B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47088"/>
            <a:ext cx="164592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GitHub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repositorio vivo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7373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1847088"/>
            <a:ext cx="164592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OSF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protocolo + desviaciones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77840" y="17373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0" y="1847088"/>
            <a:ext cx="164592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Zenodo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dataset con DOI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7373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0" y="1847088"/>
            <a:ext cx="164592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Software Heritage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SWHID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058400" y="1737360"/>
            <a:ext cx="1508760" cy="822960"/>
          </a:xfrm>
          <a:prstGeom prst="roundRect">
            <a:avLst>
              <a:gd name="adj" fmla="val 11111"/>
            </a:avLst>
          </a:prstGeom>
          <a:solidFill>
            <a:srgbClr val="B2322E">
              <a:alpha val="93000"/>
            </a:srgbClr>
          </a:solidFill>
          <a:ln w="12700">
            <a:solidFill>
              <a:srgbClr val="B2322E">
                <a:alpha val="9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149840" y="1847088"/>
            <a:ext cx="132588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F-UJI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reporte FAIR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97480" y="2148840"/>
            <a:ext cx="45720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074920" y="2148840"/>
            <a:ext cx="45720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452360" y="2148840"/>
            <a:ext cx="45720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829800" y="2148840"/>
            <a:ext cx="182880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914400" y="3749040"/>
            <a:ext cx="9784080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00" dirty="0">
                <a:solidFill>
                  <a:srgbClr val="1B1E1C"/>
                </a:solidFill>
              </a:rPr>
              <a:t>Zenodo se publica al final, después de la Fase 6, para evitar DOI de un paquete incompleto.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No incluye audios, videos, firmas ni datos identificables.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Después del DOI real se actualizan README, CITATION, ERS y manuscrito.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9418320" y="6647688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Diap. 13/16 · 21:00-22:30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Amenazas a la validez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47067"/>
                </a:solidFill>
              </a:rPr>
              <a:t>Reconocer límites fortalece la defensa, no la debilita.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" y="1554480"/>
            <a:ext cx="2286000" cy="777240"/>
          </a:xfrm>
          <a:prstGeom prst="roundRect">
            <a:avLst>
              <a:gd name="adj" fmla="val 11765"/>
            </a:avLst>
          </a:prstGeom>
          <a:solidFill>
            <a:srgbClr val="B2322E">
              <a:alpha val="93000"/>
            </a:srgbClr>
          </a:solidFill>
          <a:ln w="12700">
            <a:solidFill>
              <a:srgbClr val="B2322E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664208"/>
            <a:ext cx="210312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Interna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cronología WALK vs OSF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66160" y="1554480"/>
            <a:ext cx="2468880" cy="777240"/>
          </a:xfrm>
          <a:prstGeom prst="roundRect">
            <a:avLst>
              <a:gd name="adj" fmla="val 11765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1664208"/>
            <a:ext cx="228600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Constructo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encuesta no mide explicabilidad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46520" y="1554480"/>
            <a:ext cx="2103120" cy="777240"/>
          </a:xfrm>
          <a:prstGeom prst="roundRect">
            <a:avLst>
              <a:gd name="adj" fmla="val 11765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1664208"/>
            <a:ext cx="192024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Externa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un gimnasio local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06840" y="1554480"/>
            <a:ext cx="2286000" cy="777240"/>
          </a:xfrm>
          <a:prstGeom prst="roundRect">
            <a:avLst>
              <a:gd name="adj" fmla="val 11765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98280" y="1664208"/>
            <a:ext cx="210312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Conclusión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 pequeño por perfil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3063240"/>
            <a:ext cx="987552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00" dirty="0">
                <a:solidFill>
                  <a:srgbClr val="1B1E1C"/>
                </a:solidFill>
              </a:rPr>
              <a:t>Mitigación: desviaciones OSF explícitas, evidencia anonimizada, scripts reproducibles y límites declarados.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No se aplican pruebas inferenciales no soportadas; se reporta análisis cualitativo/descriptivo.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El aporte no generaliza a todos los gimnasios: ofrece un caso trazable y replicable.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103120" y="4800600"/>
            <a:ext cx="7772400" cy="502920"/>
          </a:xfrm>
          <a:prstGeom prst="roundRect">
            <a:avLst>
              <a:gd name="adj" fmla="val 14545"/>
            </a:avLst>
          </a:prstGeom>
          <a:solidFill>
            <a:srgbClr val="E9F5EE"/>
          </a:solidFill>
          <a:ln w="12700">
            <a:solidFill>
              <a:srgbClr val="C7D7C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31720" y="4956048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31B"/>
                </a:solidFill>
              </a:rPr>
              <a:t>Mensaje clave: transparencia metodológica para evitar G4/G8.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9418320" y="6647688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Diap. 14/16 · 22:30-23:30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47067"/>
                </a:solidFill>
              </a:rPr>
              <a:t>Qué queda cerrado y qué queda como trabajo futuro.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5087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5D3B"/>
                </a:solidFill>
              </a:rPr>
              <a:t>ERS 2B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19476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48 requisitos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560320" y="15087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5C7D"/>
                </a:solidFill>
              </a:rPr>
              <a:t>Paper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560320" y="19476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Springer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0" y="15087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A838"/>
                </a:solidFill>
              </a:rPr>
              <a:t>Dataset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114800" y="1947672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pre-Zenodo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806440" y="15087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5D3B"/>
                </a:solidFill>
              </a:rPr>
              <a:t>Demo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806440" y="1947672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1E1C"/>
                </a:solidFill>
              </a:rPr>
              <a:t>2 escenarios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68680" y="2743200"/>
            <a:ext cx="521208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00" dirty="0">
                <a:solidFill>
                  <a:srgbClr val="1B1E1C"/>
                </a:solidFill>
              </a:rPr>
              <a:t>FabroGym pasó de registros manuales a una especificación trazable y defendible.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La explicabilidad se formalizó como RNF verificable, no como promesa genérica.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La reproducibilidad y la privacidad se trataron como condiciones de aceptación.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12280" y="2743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31B"/>
                </a:solidFill>
              </a:rPr>
              <a:t>Trabajo futuro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830568" y="3154680"/>
            <a:ext cx="411480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400" dirty="0">
                <a:solidFill>
                  <a:srgbClr val="1B1E1C"/>
                </a:solidFill>
              </a:rPr>
              <a:t>Implementar y evaluar el componente de recomendación.</a:t>
            </a:r>
            <a:endParaRPr lang="en-US" sz="1400" dirty="0"/>
          </a:p>
          <a:p>
            <a:r>
              <a:rPr lang="en-US" sz="1400" dirty="0">
                <a:solidFill>
                  <a:srgbClr val="1B1E1C"/>
                </a:solidFill>
              </a:rPr>
              <a:t>Ejecutar una nueva ronda post-DOI con instrumento específico de explicabilidad.</a:t>
            </a:r>
            <a:endParaRPr lang="en-US" sz="1400" dirty="0"/>
          </a:p>
          <a:p>
            <a:r>
              <a:rPr lang="en-US" sz="1400" dirty="0">
                <a:solidFill>
                  <a:srgbClr val="1B1E1C"/>
                </a:solidFill>
              </a:rPr>
              <a:t>Ampliar a más gimnasios para contrastar transferibilidad.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9418320" y="6647688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Diap. 15/16 · 23:30-24:15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 1 - Cliente, pago, membresía y asistencia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47067"/>
                </a:solidFill>
              </a:rPr>
              <a:t>Escenario trazable para mostrar flujo de recepción.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1463040"/>
            <a:ext cx="1600200" cy="685800"/>
          </a:xfrm>
          <a:prstGeom prst="roundRect">
            <a:avLst>
              <a:gd name="adj" fmla="val 13333"/>
            </a:avLst>
          </a:prstGeom>
          <a:solidFill>
            <a:srgbClr val="10231B">
              <a:alpha val="93000"/>
            </a:srgbClr>
          </a:solidFill>
          <a:ln w="12700">
            <a:solidFill>
              <a:srgbClr val="10231B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72768"/>
            <a:ext cx="141732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1. Login demo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rol Recepción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450592" y="1810512"/>
            <a:ext cx="429768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926080" y="1463040"/>
            <a:ext cx="1920240" cy="685800"/>
          </a:xfrm>
          <a:prstGeom prst="roundRect">
            <a:avLst>
              <a:gd name="adj" fmla="val 13333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0" y="1572768"/>
            <a:ext cx="173736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2. Buscar / registrar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cliente sintético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73752" y="1810512"/>
            <a:ext cx="429768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349240" y="1463040"/>
            <a:ext cx="1783080" cy="685800"/>
          </a:xfrm>
          <a:prstGeom prst="roundRect">
            <a:avLst>
              <a:gd name="adj" fmla="val 13333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40680" y="1572768"/>
            <a:ext cx="16002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3. Registrar pago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y comprobante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59752" y="1810512"/>
            <a:ext cx="429768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635240" y="1463040"/>
            <a:ext cx="1554480" cy="685800"/>
          </a:xfrm>
          <a:prstGeom prst="roundRect">
            <a:avLst>
              <a:gd name="adj" fmla="val 13333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26680" y="1572768"/>
            <a:ext cx="1371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4. Renovar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membresía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217152" y="1810512"/>
            <a:ext cx="429768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692640" y="1463040"/>
            <a:ext cx="1554480" cy="685800"/>
          </a:xfrm>
          <a:prstGeom prst="roundRect">
            <a:avLst>
              <a:gd name="adj" fmla="val 13333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84080" y="1572768"/>
            <a:ext cx="1371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5. Registrar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asistencia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2971800"/>
            <a:ext cx="960120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00" dirty="0">
                <a:solidFill>
                  <a:srgbClr val="1B1E1C"/>
                </a:solidFill>
              </a:rPr>
              <a:t>RF-CLI-01 / RF-CLI-02 / RF-MEM-02 / RF-MEM-03 / RF-PAG-01 / RF-ASI-01.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Evidencia esperada: búsqueda visible, membresía vigente, comprobante interno y asistencia registrada.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No usar nombres reales ni credenciales reales durante la defensa.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5074920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D3B"/>
                </a:solidFill>
              </a:rPr>
              <a:t>Frase para cerrar la demo: "Este flujo conecta la necesidad operativa de recepción con requisitos Must y criterios verificables".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D3B"/>
          </a:solidFill>
          <a:ln w="12700">
            <a:solidFill>
              <a:srgbClr val="0B5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0231B"/>
          </a:solidFill>
          <a:ln w="12700">
            <a:solidFill>
              <a:srgbClr val="1023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664768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FabroGym · ISR-401 · Entrega 4 (2B)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9418320" y="6647688"/>
            <a:ext cx="2423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Diap. 16/16 · 24:15-25:00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023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 2 - Inventario, venta y cierre de caja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005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47067"/>
                </a:solidFill>
              </a:rPr>
              <a:t>Escenario trazable para mostrar control operativo y auditoría.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1463040"/>
            <a:ext cx="1554480" cy="685800"/>
          </a:xfrm>
          <a:prstGeom prst="roundRect">
            <a:avLst>
              <a:gd name="adj" fmla="val 13333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72768"/>
            <a:ext cx="1371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1. Producto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stock mínimo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95728" y="1810512"/>
            <a:ext cx="484632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926080" y="1463040"/>
            <a:ext cx="1645920" cy="685800"/>
          </a:xfrm>
          <a:prstGeom prst="roundRect">
            <a:avLst>
              <a:gd name="adj" fmla="val 13333"/>
            </a:avLst>
          </a:prstGeom>
          <a:solidFill>
            <a:srgbClr val="355C7D">
              <a:alpha val="93000"/>
            </a:srgbClr>
          </a:solidFill>
          <a:ln w="12700">
            <a:solidFill>
              <a:srgbClr val="355C7D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0" y="1572768"/>
            <a:ext cx="14630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2. Movimiento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 inventario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99432" y="1810512"/>
            <a:ext cx="475488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120640" y="1463040"/>
            <a:ext cx="1783080" cy="685800"/>
          </a:xfrm>
          <a:prstGeom prst="roundRect">
            <a:avLst>
              <a:gd name="adj" fmla="val 13333"/>
            </a:avLst>
          </a:prstGeom>
          <a:solidFill>
            <a:srgbClr val="D6A838">
              <a:alpha val="93000"/>
            </a:srgbClr>
          </a:solidFill>
          <a:ln w="12700">
            <a:solidFill>
              <a:srgbClr val="D6A838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1572768"/>
            <a:ext cx="16002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3. Venta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y descuento stock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31152" y="1810512"/>
            <a:ext cx="475488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52360" y="1463040"/>
            <a:ext cx="1508760" cy="685800"/>
          </a:xfrm>
          <a:prstGeom prst="roundRect">
            <a:avLst>
              <a:gd name="adj" fmla="val 13333"/>
            </a:avLst>
          </a:prstGeom>
          <a:solidFill>
            <a:srgbClr val="0B5D3B">
              <a:alpha val="93000"/>
            </a:srgbClr>
          </a:solidFill>
          <a:ln w="12700">
            <a:solidFill>
              <a:srgbClr val="0B5D3B">
                <a:alpha val="9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43800" y="1572768"/>
            <a:ext cx="13258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4. Cierre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 caja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88552" y="1810512"/>
            <a:ext cx="475488" cy="0"/>
          </a:xfrm>
          <a:prstGeom prst="line">
            <a:avLst/>
          </a:prstGeom>
          <a:noFill/>
          <a:ln w="12700">
            <a:solidFill>
              <a:srgbClr val="647067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509760" y="1463040"/>
            <a:ext cx="1600200" cy="685800"/>
          </a:xfrm>
          <a:prstGeom prst="roundRect">
            <a:avLst>
              <a:gd name="adj" fmla="val 13333"/>
            </a:avLst>
          </a:prstGeom>
          <a:solidFill>
            <a:srgbClr val="10231B">
              <a:alpha val="93000"/>
            </a:srgbClr>
          </a:solidFill>
          <a:ln w="12700">
            <a:solidFill>
              <a:srgbClr val="10231B">
                <a:alpha val="9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0" y="1572768"/>
            <a:ext cx="141732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5. Auditoría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y reporte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2971800"/>
            <a:ext cx="960120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00" dirty="0">
                <a:solidFill>
                  <a:srgbClr val="1B1E1C"/>
                </a:solidFill>
              </a:rPr>
              <a:t>RF-INV-01 / RF-INV-02 / RF-VEN-01 / RF-CAJ-01 / RF-AUT-03.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Evidencia esperada: producto creado, venta registrada, stock reducido y cierre con diferencia/cero diferencia.</a:t>
            </a:r>
            <a:endParaRPr lang="en-US" sz="1500" dirty="0"/>
          </a:p>
          <a:p>
            <a:r>
              <a:rPr lang="en-US" sz="1500" dirty="0">
                <a:solidFill>
                  <a:srgbClr val="1B1E1C"/>
                </a:solidFill>
              </a:rPr>
              <a:t>Cierre final: FabroGym queda listo para evaluación, y después se publica Zenodo con DOI real.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743200" y="507492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0231B"/>
                </a:solidFill>
              </a:rPr>
              <a:t>Gracias · Preguntas del tribunal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UTEQ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FabroGym - Defensa Final 2B</dc:title>
  <dc:subject>Defensa final Entrega 4 (2B)</dc:subject>
  <dc:creator>Equipo FabroGym ISR-401</dc:creator>
  <cp:lastModifiedBy>Equipo FabroGym ISR-401</cp:lastModifiedBy>
  <cp:revision>1</cp:revision>
  <dcterms:created xsi:type="dcterms:W3CDTF">2026-09-01T19:03:18Z</dcterms:created>
  <dcterms:modified xsi:type="dcterms:W3CDTF">2026-09-01T19:03:18Z</dcterms:modified>
</cp:coreProperties>
</file>